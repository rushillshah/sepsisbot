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79640f4b694bf3" /><Relationship Type="http://schemas.openxmlformats.org/officeDocument/2006/relationships/extended-properties" Target="/docProps/app.xml" Id="R3df96b3716d24a7e" /><Relationship Type="http://schemas.openxmlformats.org/officeDocument/2006/relationships/officeDocument" Target="/ppt/presentation.xml" Id="R002f814aef804d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dfb126338c498b"/>
  </p:sldMasterIdLst>
  <p:notesMasterIdLst>
    <p:notesMasterId xmlns:r="http://schemas.openxmlformats.org/officeDocument/2006/relationships" r:id="Rfb8ccd4515784032"/>
  </p:notesMasterIdLst>
  <p:sldIdLst>
    <p:sldId xmlns:r="http://schemas.openxmlformats.org/officeDocument/2006/relationships" id="256" r:id="R20d08186f0c34068"/>
    <p:sldId xmlns:r="http://schemas.openxmlformats.org/officeDocument/2006/relationships" id="257" r:id="R69f13a48a76b4503"/>
    <p:sldId xmlns:r="http://schemas.openxmlformats.org/officeDocument/2006/relationships" id="258" r:id="Rd5cde45779364055"/>
    <p:sldId xmlns:r="http://schemas.openxmlformats.org/officeDocument/2006/relationships" id="259" r:id="R21eb08ee828c43d0"/>
    <p:sldId xmlns:r="http://schemas.openxmlformats.org/officeDocument/2006/relationships" id="260" r:id="Rcade3d132b83408d"/>
    <p:sldId xmlns:r="http://schemas.openxmlformats.org/officeDocument/2006/relationships" id="261" r:id="Rd1ff6a10cf924aad"/>
    <p:sldId xmlns:r="http://schemas.openxmlformats.org/officeDocument/2006/relationships" id="262" r:id="Rb9b062c1d20546c5"/>
    <p:sldId xmlns:r="http://schemas.openxmlformats.org/officeDocument/2006/relationships" id="263" r:id="Rab351e4a2cc9464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dfb126338c498b" /><Relationship Type="http://schemas.openxmlformats.org/officeDocument/2006/relationships/theme" Target="/ppt/theme/theme1.xml" Id="R8bde3efa33b14b49" /><Relationship Type="http://schemas.openxmlformats.org/officeDocument/2006/relationships/notesMaster" Target="/ppt/notesMasters/notesMaster1.xml" Id="Rfb8ccd4515784032" /><Relationship Type="http://schemas.openxmlformats.org/officeDocument/2006/relationships/presProps" Target="/ppt/presProps.xml" Id="R1c1e3eac94f44547" /><Relationship Type="http://schemas.openxmlformats.org/officeDocument/2006/relationships/viewProps" Target="/ppt/viewProps.xml" Id="R04e6f2b3a3b54332" /><Relationship Type="http://schemas.openxmlformats.org/officeDocument/2006/relationships/tableStyles" Target="/ppt/tableStyles.xml" Id="R75a1008269934f3f" /><Relationship Type="http://schemas.openxmlformats.org/officeDocument/2006/relationships/slide" Target="/ppt/slides/slide1.xml" Id="R20d08186f0c34068" /><Relationship Type="http://schemas.openxmlformats.org/officeDocument/2006/relationships/slide" Target="/ppt/slides/slide2.xml" Id="R69f13a48a76b4503" /><Relationship Type="http://schemas.openxmlformats.org/officeDocument/2006/relationships/slide" Target="/ppt/slides/slide3.xml" Id="Rd5cde45779364055" /><Relationship Type="http://schemas.openxmlformats.org/officeDocument/2006/relationships/slide" Target="/ppt/slides/slide4.xml" Id="R21eb08ee828c43d0" /><Relationship Type="http://schemas.openxmlformats.org/officeDocument/2006/relationships/slide" Target="/ppt/slides/slide5.xml" Id="Rcade3d132b83408d" /><Relationship Type="http://schemas.openxmlformats.org/officeDocument/2006/relationships/slide" Target="/ppt/slides/slide6.xml" Id="Rd1ff6a10cf924aad" /><Relationship Type="http://schemas.openxmlformats.org/officeDocument/2006/relationships/slide" Target="/ppt/slides/slide7.xml" Id="Rb9b062c1d20546c5" /><Relationship Type="http://schemas.openxmlformats.org/officeDocument/2006/relationships/slide" Target="/ppt/slides/slide8.xml" Id="Rab351e4a2cc946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03725789e744c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2c1c196c60498d" /><Relationship Type="http://schemas.openxmlformats.org/officeDocument/2006/relationships/notesMaster" Target="/ppt/notesMasters/notesMaster1.xml" Id="R4da501c0debb46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de95bcada94e04" /><Relationship Type="http://schemas.openxmlformats.org/officeDocument/2006/relationships/notesMaster" Target="/ppt/notesMasters/notesMaster1.xml" Id="R8bf81a73819b45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6d1e1489f74bfb" /><Relationship Type="http://schemas.openxmlformats.org/officeDocument/2006/relationships/notesMaster" Target="/ppt/notesMasters/notesMaster1.xml" Id="R9e4be15f144748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4f7d553c1f4068" /><Relationship Type="http://schemas.openxmlformats.org/officeDocument/2006/relationships/notesMaster" Target="/ppt/notesMasters/notesMaster1.xml" Id="Ra25dba47a1c54e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6754e339fc47f9" /><Relationship Type="http://schemas.openxmlformats.org/officeDocument/2006/relationships/notesMaster" Target="/ppt/notesMasters/notesMaster1.xml" Id="R404b75d46e9944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305763f55e498e" /><Relationship Type="http://schemas.openxmlformats.org/officeDocument/2006/relationships/notesMaster" Target="/ppt/notesMasters/notesMaster1.xml" Id="Re37c510731f149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f90427ea314f75" /><Relationship Type="http://schemas.openxmlformats.org/officeDocument/2006/relationships/notesMaster" Target="/ppt/notesMasters/notesMaster1.xml" Id="R54f3119f4ed040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22a926685d44060" /><Relationship Type="http://schemas.openxmlformats.org/officeDocument/2006/relationships/notesMaster" Target="/ppt/notesMasters/notesMaster1.xml" Id="Rf90f24e27b6949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143e4cd9bc4ea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42d7e4278824083" /><Relationship Type="http://schemas.openxmlformats.org/officeDocument/2006/relationships/slideLayout" Target="/ppt/slideLayouts/slideLayout2.xml" Id="Rbdba0fccecc445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ba0fccecc445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a8caa062b8427a" /><Relationship Type="http://schemas.openxmlformats.org/officeDocument/2006/relationships/notesSlide" Target="/ppt/notesSlides/notesSlide1.xml" Id="Rd724ca0e96184e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20d394d7d84b7e" /><Relationship Type="http://schemas.openxmlformats.org/officeDocument/2006/relationships/notesSlide" Target="/ppt/notesSlides/notesSlide2.xml" Id="R2384a42eae424d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828540cf8b4c08" /><Relationship Type="http://schemas.openxmlformats.org/officeDocument/2006/relationships/notesSlide" Target="/ppt/notesSlides/notesSlide3.xml" Id="R9f59a9d799ae40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4c4aef40374b0a" /><Relationship Type="http://schemas.openxmlformats.org/officeDocument/2006/relationships/notesSlide" Target="/ppt/notesSlides/notesSlide4.xml" Id="R7b1c13f5c01149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6b5c9acf374605" /><Relationship Type="http://schemas.openxmlformats.org/officeDocument/2006/relationships/notesSlide" Target="/ppt/notesSlides/notesSlide5.xml" Id="R99585fc8a35f49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6c5132fe1e4170" /><Relationship Type="http://schemas.openxmlformats.org/officeDocument/2006/relationships/notesSlide" Target="/ppt/notesSlides/notesSlide6.xml" Id="Rd3f6a756166647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d8800634714922" /><Relationship Type="http://schemas.openxmlformats.org/officeDocument/2006/relationships/notesSlide" Target="/ppt/notesSlides/notesSlide7.xml" Id="R0fe5c775e8a843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77c5d71b7942d9" /><Relationship Type="http://schemas.openxmlformats.org/officeDocument/2006/relationships/notesSlide" Target="/ppt/notesSlides/notesSlide8.xml" Id="R2abe2666614346b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FD26A3-6892-43B0-B6B7-08C4AD4D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81FF4D-B4AC-4652-B74F-A2C6E67A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5F502-B3BB-4B0F-A12D-29A5B1F0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CC9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C9FF"/>
                </a:solidFill>
                <a:latin typeface="Aptos"/>
                <a:ea typeface="Aptos"/>
                <a:cs typeface="Aptos"/>
              </a:rPr>
              <a:t>SEPSIS EARLY WARNING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924E85-E3C9-4D59-A0A8-343DA74E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Cleaned</a:t>
            </a:r>
          </a:p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model update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C6A976-49D1-41A6-B586-CE14F28A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35389F-0106-4D0C-BDE7-F93C1411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2DC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2DCE8"/>
                </a:solidFill>
                <a:latin typeface="Aptos"/>
                <a:ea typeface="Aptos"/>
                <a:cs typeface="Aptos"/>
              </a:rPr>
              <a:t>Clinician-facing version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4F045A-37A1-4787-9826-B1D9EEA4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95350"/>
            <a:ext cx="2000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E9A0CF-279E-46B9-9FD0-B28FAC13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04775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0.7988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59A460-CDCF-4857-8FFA-CB62F554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50495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XGBoost AUROC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DA2FE7-37F3-46A6-B266-BB8A1519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79070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patient-level CV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22FCC4-8445-4BEE-947A-500136BC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895350"/>
            <a:ext cx="2000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C7F7B0-9953-445F-9D74-46A8F31A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04775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119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16471D-5343-4866-BE01-5FD42A15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50495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final features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0ACA05-F9A0-4F83-9960-D189398B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79070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after exclusions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4BD960-4B18-4AF7-A04D-25310B43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895350"/>
            <a:ext cx="2000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09148F-6EBA-4A16-B5F7-C0FC312D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04775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0.773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7915E0-699A-4F8F-849F-2B42F352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50495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max retained |r|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2F9CCC-2F6D-4BA2-9461-C20D5793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79070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below 0.8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ED73FA-BFAD-4E2F-AC4D-27EFF12B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6477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A more conservative,</a:t>
            </a:r>
          </a:p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more defensible sepsis early-risk model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BB3E89-E594-4A6F-8F9F-2317D9BE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2905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04BFC5-89F5-40B5-A0E2-499FEFFE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38625"/>
            <a:ext cx="6477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19050" rIns="57150" bIns="1905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• Old artifact risk removed: no ICULOS, no unit identifiers, no raw FiO2 in the final model.</a:t>
            </a:r>
          </a:p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• Static severity markers are de-emphasized; trajectory and patient-relative drift carry the story.</a:t>
            </a:r>
          </a:p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• This is a cleaned early-risk PoC, not severity-independent clinical validation.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57BE88-D4C0-42CF-B1F0-C707A6EE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6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695"/>
                </a:solidFill>
                <a:latin typeface="Aptos"/>
                <a:ea typeface="Aptos"/>
                <a:cs typeface="Aptos"/>
              </a:rPr>
              <a:t>Clean run: 2026-05-23</a:t>
            </a:r>
          </a:p>
        </p:txBody>
      </p:sp>
    </p:spTree>
    <p:extLst>
      <p:ext uri="{BB962C8B-B14F-4D97-AF65-F5344CB8AC3E}">
        <p14:creationId xmlns:p14="http://schemas.microsoft.com/office/powerpoint/2010/main" val="130142342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390FCB-9085-47B4-B2F5-DD1A9129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B7131A-9BDD-43D6-838C-002C1E0E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MAIN MESSAGE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8A7D1-1305-41B6-A8AD-B5DA44ED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914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We changed the story from “symptoms predict sepsis” to “trajectory flags risk”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3672B2-AA65-4526-86BC-C4BF7E0E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876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This directly addresses the concern that lactate/FiO2 can be symptoms, treatment decisions, or baseline illness markers.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8C32AE-3743-4456-B985-C39DA8B6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CBED5B-041C-4936-B276-84262F23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2952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4E1"/>
          </a:solidFill>
          <a:ln xmlns:a="http://schemas.openxmlformats.org/drawingml/2006/main" w="9525">
            <a:solidFill>
              <a:srgbClr val="FDE4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CB1FD-ADC8-4266-B3F9-AA4CFA01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38425"/>
            <a:ext cx="2686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Old risk</a:t>
            </a:r>
          </a:p>
          <a:p xmlns:a="http://schemas.openxmlformats.org/drawingml/2006/main">
            <a:pPr algn="l">
              <a:defRPr sz="12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Static sick-patient separation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F8DC58-EE7E-440F-8DCA-9D465138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24125"/>
            <a:ext cx="2952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EA"/>
          </a:solidFill>
          <a:ln xmlns:a="http://schemas.openxmlformats.org/drawingml/2006/main" w="9525">
            <a:solidFill>
              <a:srgbClr val="E5F5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073C75-6C29-4333-8313-1C26EF1C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38425"/>
            <a:ext cx="2686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17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17A43"/>
                </a:solidFill>
                <a:latin typeface="Aptos"/>
                <a:ea typeface="Aptos"/>
                <a:cs typeface="Aptos"/>
              </a:rPr>
              <a:t>Cleaned model</a:t>
            </a:r>
          </a:p>
          <a:p xmlns:a="http://schemas.openxmlformats.org/drawingml/2006/main">
            <a:pPr algn="l">
              <a:defRPr sz="1200" b="1">
                <a:solidFill>
                  <a:srgbClr val="217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17A43"/>
                </a:solidFill>
                <a:latin typeface="Aptos"/>
                <a:ea typeface="Aptos"/>
                <a:cs typeface="Aptos"/>
              </a:rPr>
              <a:t>Trajectory + drift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DECB49-CA60-455F-AF6F-BA65F48E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24125"/>
            <a:ext cx="2952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DCEB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5C682D-E1FC-48DB-901C-BF51B111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38425"/>
            <a:ext cx="2686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Honest claim</a:t>
            </a:r>
          </a:p>
          <a:p xmlns:a="http://schemas.openxmlformats.org/drawingml/2006/main">
            <a:pPr algn="l">
              <a:defRPr sz="12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Early-risk PoC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D339C5-E1BD-416C-A61B-18DBE919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33875"/>
            <a:ext cx="9525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19050" rIns="57150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• No claim of severity independence</a:t>
            </a:r>
          </a:p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• No raw FiO2 in final model</a:t>
            </a:r>
          </a:p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• No ICULOS / unit / admission-time features</a:t>
            </a:r>
          </a:p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• No hidden training-set scoring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F7E52F-EF83-4FC6-8316-4C09F103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6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695"/>
                </a:solidFill>
                <a:latin typeface="Aptos"/>
                <a:ea typeface="Aptos"/>
                <a:cs typeface="Aptos"/>
              </a:rPr>
              <a:t>PhysioNet/CinC 2019 | cleaned 119-feature model | patient-level CV</a:t>
            </a:r>
          </a:p>
        </p:txBody>
      </p:sp>
    </p:spTree>
    <p:extLst>
      <p:ext uri="{BB962C8B-B14F-4D97-AF65-F5344CB8AC3E}">
        <p14:creationId xmlns:p14="http://schemas.microsoft.com/office/powerpoint/2010/main" val="8253821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2D6067-3924-41DF-A6A9-1F8906F2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C31CA0-A075-4A8C-AF87-D7FB5B71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FEATURE EXCLUSION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E5C108-DA28-49EC-998E-B8AACC42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914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We explicitly removed features that made the model look better but less clinically defensible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B72DA4-3F00-475F-BCA4-7029BF2F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7CF950-3C4E-4E28-B728-FE7904A9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019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F0689D-DF6D-4EEF-8BCD-801B878E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Excluded group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DD3F2-D9F3-4A34-8964-E3843474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43719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excluded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1A03AD-031A-473B-BE8B-DA23F6D6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381250"/>
            <a:ext cx="34194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Clinical risk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065F0-3B61-4599-88E3-A025CC41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019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8EE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8D4E94-FA81-44AF-A3EC-39DC92BD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ICULOS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C17184-AE65-4C8B-8B65-3646C01C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76550"/>
            <a:ext cx="43719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Length of stay tracks opportunity to become septic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D719D3-E8FB-40B6-A8A6-1BDF3628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76550"/>
            <a:ext cx="34194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Circular / time confounding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9290C7-04D0-4E07-944A-59B11EB9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1019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394B58-EA67-4E83-A38A-4E712966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Unit1 / Unit2 / HospAdmTime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A1A062-EF4C-4FD7-93F6-95EC883D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71850"/>
            <a:ext cx="43719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Hospital workflow identifiers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783448-EC50-41E6-B508-E9586CC4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371850"/>
            <a:ext cx="34194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Site leakage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101D6E-8B95-44AA-992E-26545057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19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8EE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602B05-37E0-4ECF-9870-4181A5A3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raw FiO2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91C2C9-A8DE-4335-AA9D-590A8FAA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67150"/>
            <a:ext cx="43719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Treatment decision, often ventilation/oxygen support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D5DDB5-6C5C-4783-BAC8-05DDEFAA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67150"/>
            <a:ext cx="34194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Intervention marker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ADCA46-F060-4B00-B473-813B7644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019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0AB2CE-9435-4002-819D-AA41CC50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testing frequency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4586C3-E2EA-4A30-AEC6-B1FBD616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62450"/>
            <a:ext cx="43719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Sicker patients get more labs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4A521C-F7B9-47B8-8F02-F1241273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362450"/>
            <a:ext cx="34194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Clinical attention signal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161AEA-67CE-4B9D-9F3F-90E16CA5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19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8EEF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90ADD6-0D35-4D93-8BCF-86B61150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static lab levels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E0317C-96BF-411B-8A96-30DDE572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57750"/>
            <a:ext cx="43719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Can mark baseline sickness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B0DF65-BED5-47EB-978B-C4486EB7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857750"/>
            <a:ext cx="34194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Severity marker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8F4343-D76A-4C14-94A1-4C684200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1019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BD91F8-E22B-461B-AE5F-923FC06C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53050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collinear duplicates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C3ED18-A837-4093-BB2B-6CCF3B2B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53050"/>
            <a:ext cx="43719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Same signal repeated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597769-B91F-4F05-95BD-1F296CD5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353050"/>
            <a:ext cx="34194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Inflated importance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930F72-F497-4A11-AE2C-B9366A81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6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695"/>
                </a:solidFill>
                <a:latin typeface="Aptos"/>
                <a:ea typeface="Aptos"/>
                <a:cs typeface="Aptos"/>
              </a:rPr>
              <a:t>Feature exclusion is the point: the cleaned result is less flashy and more defensible.</a:t>
            </a:r>
          </a:p>
        </p:txBody>
      </p:sp>
    </p:spTree>
    <p:extLst>
      <p:ext uri="{BB962C8B-B14F-4D97-AF65-F5344CB8AC3E}">
        <p14:creationId xmlns:p14="http://schemas.microsoft.com/office/powerpoint/2010/main" val="9745457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4B69E5-0B0D-481B-86E8-406689FB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796055-5482-437D-950A-784EB738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CF9852-8B68-4D30-9713-352E7E3F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914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Performance is lower after cleanup, but the number is more credible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D142FD-0365-40E5-A98C-24DAD4B1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253ED5-05A6-4BEA-8BDE-18690106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739E8B-D517-4447-9655-2597E2B7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28900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0.7988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186582-DF69-4906-A4AD-AE5C4FD2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XGBoost AUROC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F30299-949F-4BF5-B6C1-21C3DD24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718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clean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89754E-F07E-49A3-8C30-34E6D474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7650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E13091-1ACD-4034-8BEF-542B3C69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28900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0.0656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3C5A6E-DCEF-4C9D-A67D-40A99CE8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8610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PR-AUC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FF430B-7C59-47CC-B4D8-CEE376E7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718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low prevalence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09DA83-FB64-4916-ACC1-736D3899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7650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0CEC6B-6821-416A-A9B4-D93454C5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28900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17A43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217A43"/>
                </a:solidFill>
                <a:latin typeface="Aptos"/>
                <a:ea typeface="Aptos"/>
                <a:cs typeface="Aptos"/>
              </a:rPr>
              <a:t>91.4%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B37094-E50C-4D06-B4BE-4AED65A3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8610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Sensitivity at 0.30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7F3470-34B3-4B59-9DD4-C06915B1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718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patient-level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598661-A220-49EE-9733-1A423C4E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7650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23EF1C-8717-41C7-9801-5B5FC89F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28900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10.3%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B23B7B-A33E-44E0-8DE9-9B9BDD7B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8610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Precision at 0.30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76128A-64C6-47F2-AE0C-78FD190D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718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alert burden remains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B0100B-A82D-433B-8A87-28329EBA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0055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19050" rIns="57150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• Use AUROC as feasibility, not clinical deployment proof.</a:t>
            </a:r>
          </a:p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• Precision is low because sepsis prevalence is low.</a:t>
            </a:r>
          </a:p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• Prospective hospital validation is still required.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3AEF39-3BAD-4602-A44A-D352389C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6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695"/>
                </a:solidFill>
                <a:latin typeface="Aptos"/>
                <a:ea typeface="Aptos"/>
                <a:cs typeface="Aptos"/>
              </a:rPr>
              <a:t>PhysioNet/CinC 2019 | cleaned 119-feature model | patient-level CV</a:t>
            </a:r>
          </a:p>
        </p:txBody>
      </p:sp>
    </p:spTree>
    <p:extLst>
      <p:ext uri="{BB962C8B-B14F-4D97-AF65-F5344CB8AC3E}">
        <p14:creationId xmlns:p14="http://schemas.microsoft.com/office/powerpoint/2010/main" val="86972647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4A4D8C-8851-4A58-AB86-F757F553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A1B4D-31E1-4B26-8904-07473DE8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WHAT DRIVES RISK NOW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1B6E2-C25E-4956-B7C5-9EE4C73A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914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Top features are mostly recent deterioration, vital instability, and drift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E6A2C5-D676-49E7-B76A-A265F053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7A2AD-FC38-4294-B784-83AA7872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early_warning_score_avg_6h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6C98CF-83CA-41B1-9EFC-FD5FB781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543175"/>
            <a:ext cx="619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EFB831-98D7-43AB-9301-EE3E4B79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543175"/>
            <a:ext cx="619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25887F-355C-4353-85AD-42AD908D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4955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rank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6E451D-902A-440B-8F65-00B1C845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Temp_max_6h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99CD63-F6FD-42D6-B30D-186139AE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00375"/>
            <a:ext cx="619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16A7CD-302C-4F57-8E35-1EBB2415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00375"/>
            <a:ext cx="58197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37846E-061F-45E6-88DD-E5BD87E1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9527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rank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B27584-9937-4F73-B3AB-64B52CAA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Resp_avg_6h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C52E50-58D5-47B8-9782-7842C5EC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457575"/>
            <a:ext cx="619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A72BC6-6CA0-445E-A093-2EE35E83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457575"/>
            <a:ext cx="50768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B1B7B9-6826-458C-969A-FADB1D29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4099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rank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C06BF8-6C6B-4466-B32E-71177AA1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pH_drift_from_normal_6h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CF1662-0D43-4B03-A3CC-80660453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914775"/>
            <a:ext cx="619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73E746-F8E4-4E70-9AF6-6D0AC577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914775"/>
            <a:ext cx="48291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7E1601-8E9A-432F-8BB0-5BCB146A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8671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rank 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5188F0-B627-4452-95E7-140CEF54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MAP_min_6h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84142A-A770-46D2-B2D0-F2E7E01D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371975"/>
            <a:ext cx="619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9B5637-D704-4FBD-85D8-70BF21E2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371975"/>
            <a:ext cx="4210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8CEA3E-02E5-4272-975C-EF3D37E1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3243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rank 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992D84-3556-4FDD-B871-1FAA0A8A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006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HR_max_6h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F14D1C-24DF-4390-8343-94196C6A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829175"/>
            <a:ext cx="619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DE76FB-2656-4C15-BD45-E0F254B5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829175"/>
            <a:ext cx="40862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A37466-6A42-4E12-88B7-1699CDAF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7815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rank 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E0B972-C468-4F03-976A-8232D185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6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695"/>
                </a:solidFill>
                <a:latin typeface="Aptos"/>
                <a:ea typeface="Aptos"/>
                <a:cs typeface="Aptos"/>
              </a:rPr>
              <a:t>Rank source: combined IV + gain + native contribution ranking.</a:t>
            </a:r>
          </a:p>
        </p:txBody>
      </p:sp>
    </p:spTree>
    <p:extLst>
      <p:ext uri="{BB962C8B-B14F-4D97-AF65-F5344CB8AC3E}">
        <p14:creationId xmlns:p14="http://schemas.microsoft.com/office/powerpoint/2010/main" val="211902964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AF530B-CFC2-46E7-8317-FF3F9A69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BED679-B99B-404B-9872-E6C15EFC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THRESHOLD TRADEOFF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AA0AA7-3039-4C5B-90EA-C60D5DB3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914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High sensitivity is possible, but alert burden remains the clinical constraint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380DA3-9979-4D6F-A3D3-E27119DD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99A953-4516-43A6-8C8C-36E15656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24125"/>
            <a:ext cx="914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34AF4-0772-44EF-9D5C-E46A1EE2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00325"/>
            <a:ext cx="12287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Threshold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9B8AEA-5A08-487A-A9F5-2E477737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600325"/>
            <a:ext cx="1657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Sensitivity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1F2FF2-61E4-4B72-BAF4-2A7E2548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600325"/>
            <a:ext cx="1657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Specificity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8F4C7F-EBF5-476D-87FD-3A8A212E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600325"/>
            <a:ext cx="1657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673A53-2425-459D-BFFF-AC2DCBBC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600325"/>
            <a:ext cx="21812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Flagged patients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2C5AD7-3666-4D74-ACB5-A11097D3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14675"/>
            <a:ext cx="914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8EE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86AF4F-3057-4E6E-8EDE-A357C5E1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90875"/>
            <a:ext cx="12287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0.10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016E69-2C9A-4FFA-A1C7-308C6488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190875"/>
            <a:ext cx="1657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99.1%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6E21A0-4115-410B-AE69-0B636BBB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190875"/>
            <a:ext cx="1657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14.8%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039EED-768B-4494-987A-17E9D6A5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190875"/>
            <a:ext cx="1657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6.5%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481E16-D3ED-442D-A7EC-FB92B763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190875"/>
            <a:ext cx="21812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33,896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17CAF1-64FA-4579-9DC6-86004406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05225"/>
            <a:ext cx="914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B955A4-0192-40D1-9B21-8691EB8E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81425"/>
            <a:ext cx="12287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0.20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2B6DED-FE4F-45FE-8615-C91AF31F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781425"/>
            <a:ext cx="1657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96.5%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22417E-39D4-4857-A23F-C8BA5148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781425"/>
            <a:ext cx="1657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35.8%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6EE603-BA4A-4063-8F01-1A50538C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781425"/>
            <a:ext cx="1657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8.2%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CDB921-44AC-4807-B122-A5A3FD5A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781425"/>
            <a:ext cx="21812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26,012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024D49-15A0-4A2B-B065-EE75A6BB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95775"/>
            <a:ext cx="914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8EEF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211B03-E5C0-4981-AF04-77A82CFB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71975"/>
            <a:ext cx="12287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0.30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062843-5D1B-4BD4-981E-DBBFC96F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4371975"/>
            <a:ext cx="1657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91.4%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192DFE-54DF-42D3-BF1D-2FA02B9F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371975"/>
            <a:ext cx="1657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52.5%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F7C17F-061B-462B-B9A1-63213157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371975"/>
            <a:ext cx="1657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10.3%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6F8D29-F076-4006-A82E-B65D4115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371975"/>
            <a:ext cx="21812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19,704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1FE512-D974-498E-A590-D7754124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86325"/>
            <a:ext cx="914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9BADA2-9682-45F2-ADC4-76AF8F1A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62525"/>
            <a:ext cx="12287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0.50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053D66-FB76-47A6-A921-3ED512B4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4962525"/>
            <a:ext cx="1657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72.1%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5EDB27-8D89-4807-A1BE-A43B1D54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962525"/>
            <a:ext cx="1657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79.7%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5894B2-FAEC-4083-BEBE-E7841B04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962525"/>
            <a:ext cx="1657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17.5%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1C9DD2-9B97-4B80-9E14-B7362449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962525"/>
            <a:ext cx="21812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9,133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D563EE-7AFC-43DF-906E-38EF9D37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476875"/>
            <a:ext cx="885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Clinical implication: the next improvement is not just AUROC; it is sustained-alert logic and better precision at acceptable alert volume.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1512EC-C209-4323-93A6-8F646B02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6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695"/>
                </a:solidFill>
                <a:latin typeface="Aptos"/>
                <a:ea typeface="Aptos"/>
                <a:cs typeface="Aptos"/>
              </a:rPr>
              <a:t>PhysioNet/CinC 2019 | cleaned 119-feature model | patient-level CV</a:t>
            </a:r>
          </a:p>
        </p:txBody>
      </p:sp>
    </p:spTree>
    <p:extLst>
      <p:ext uri="{BB962C8B-B14F-4D97-AF65-F5344CB8AC3E}">
        <p14:creationId xmlns:p14="http://schemas.microsoft.com/office/powerpoint/2010/main" val="129972710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22F9DB-5DFF-4D3F-99C1-C9984710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624632-A897-4A4C-9A93-4538E5DE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WHAT WE CAN SAY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722F5-7AB5-4553-BD06-678192EB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914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The defensible claim is narrower, and stronger because it is narrower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A29AAC-2F1A-4C97-B18C-7BE41EB1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C17CDE-63E8-42D7-A329-947C3EB8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953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EA"/>
          </a:solidFill>
          <a:ln xmlns:a="http://schemas.openxmlformats.org/drawingml/2006/main" w="9525">
            <a:solidFill>
              <a:srgbClr val="217A4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1DFAC-A16C-4FDA-B949-9D9DA7B1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14625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17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17A43"/>
                </a:solidFill>
                <a:latin typeface="Aptos"/>
                <a:ea typeface="Aptos"/>
                <a:cs typeface="Aptos"/>
              </a:rPr>
              <a:t>Say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DC9E10-CD59-4717-B1C6-55CFE85A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90875"/>
            <a:ext cx="4095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19050" rIns="5715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• Hourly ICU data can stratify early sepsis risk.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• Trajectory features are more defensible than static markers.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• The cleaned model reduces obvious leakage.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28BC55-3C60-43F4-9328-307EFF1A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4953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4E1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0FDCF8-D954-41F9-967E-0691607E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1462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Do not say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215837-8324-4D9A-96E5-F9A55A1D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90875"/>
            <a:ext cx="4095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19050" rIns="5715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• Severity-independent prediction.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• Clinically validated.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• Deployment-ready.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• Raw lactate/FiO2 are early predictors.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D38B62-0023-42FA-8E1B-67F75AD2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6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695"/>
                </a:solidFill>
                <a:latin typeface="Aptos"/>
                <a:ea typeface="Aptos"/>
                <a:cs typeface="Aptos"/>
              </a:rPr>
              <a:t>PhysioNet/CinC 2019 | cleaned 119-feature model | patient-level CV</a:t>
            </a:r>
          </a:p>
        </p:txBody>
      </p:sp>
    </p:spTree>
    <p:extLst>
      <p:ext uri="{BB962C8B-B14F-4D97-AF65-F5344CB8AC3E}">
        <p14:creationId xmlns:p14="http://schemas.microsoft.com/office/powerpoint/2010/main" val="2274518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C34FCF-BCB8-4022-9A23-ADECAAC1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C3D069-684D-431C-B619-6E6B03CD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NEXT VALIDATION STEP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355035-F541-4D0E-BDB8-1F8C67A3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914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Use richer EHR data to separate baseline severity from true deterioration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0D0E49-1E14-457F-9EB4-E4D2F8B6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F22D7B-BC7F-4118-B3B2-C15D9FB0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2509838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DCEB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F8CFDB-96BA-4799-A296-B47F9DCF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1A871-DEC6-4BB8-8730-A91328F4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81300"/>
            <a:ext cx="1862138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Add severity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2E4911-A002-47DE-8F10-49DA7B63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24200"/>
            <a:ext cx="1862138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SOFA/APACHE, diagnoses, comorbidities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14A1A7-0746-4F59-BB3E-98C14D7A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667000"/>
            <a:ext cx="2509838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7F2"/>
          </a:solidFill>
          <a:ln xmlns:a="http://schemas.openxmlformats.org/drawingml/2006/main" w="9525">
            <a:solidFill>
              <a:srgbClr val="DDF7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7429FF-4821-4AE9-98F6-8100139F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538" y="280035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71C762-FDE2-41D9-BE2E-08896BB0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538" y="2781300"/>
            <a:ext cx="1862138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Add interventions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E0F509-D0EA-48E0-AB12-DC294F5E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538" y="3124200"/>
            <a:ext cx="1862138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vasopressors, ventilation, antibiotics, fluids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300F79-430A-4B0E-AF8D-6888BEAB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667000"/>
            <a:ext cx="2509838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FFF3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148A02-4695-4608-BD3D-9BE529A2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80035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549824-4F2A-4812-97A6-3F4FDA36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781300"/>
            <a:ext cx="1862138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Tune alert logic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6B6B9F-2584-4755-9BAB-8006D732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124200"/>
            <a:ext cx="1862138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sustained risk, not one-hour spikes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931BCB-BC0D-43CE-8452-34FAF903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3463" y="2667000"/>
            <a:ext cx="2509838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EA"/>
          </a:solidFill>
          <a:ln xmlns:a="http://schemas.openxmlformats.org/drawingml/2006/main" w="9525">
            <a:solidFill>
              <a:srgbClr val="E5F5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5101FF-E66F-4959-8DD9-38CA6459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6813" y="280035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7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17A43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390E01-9402-4174-9C94-822BE3B0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7813" y="2781300"/>
            <a:ext cx="1862138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Shadow validate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BC497F-4161-40EE-9F48-75F5A702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7813" y="3124200"/>
            <a:ext cx="1862138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clinician review before deployment claims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47DB67-04E3-4ECD-BBE7-005CAE33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This deck should be used to request access to richer hospital data, not to claim the model is ready for clinical deployment.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2C5D6F-F1BF-47AA-BBF4-0296E4EF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A86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A8695"/>
                </a:solidFill>
                <a:latin typeface="Aptos"/>
                <a:ea typeface="Aptos"/>
                <a:cs typeface="Aptos"/>
              </a:rPr>
              <a:t>PhysioNet/CinC 2019 | cleaned 119-feature model | patient-level CV</a:t>
            </a:r>
          </a:p>
        </p:txBody>
      </p:sp>
    </p:spTree>
    <p:extLst>
      <p:ext uri="{BB962C8B-B14F-4D97-AF65-F5344CB8AC3E}">
        <p14:creationId xmlns:p14="http://schemas.microsoft.com/office/powerpoint/2010/main" val="19869113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2026-05-22T21:22:08.6080000Z</dcterms:created>
  <dcterms:modified xsi:type="dcterms:W3CDTF">2026-05-22T21:22:08.6080000Z</dcterms:modified>
</coreProperties>
</file>