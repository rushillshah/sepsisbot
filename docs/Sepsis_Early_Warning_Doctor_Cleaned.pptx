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f73b8baef0412b" /><Relationship Type="http://schemas.openxmlformats.org/officeDocument/2006/relationships/extended-properties" Target="/docProps/app.xml" Id="R7ca3435266ab48ef" /><Relationship Type="http://schemas.openxmlformats.org/officeDocument/2006/relationships/officeDocument" Target="/ppt/presentation.xml" Id="Re1fa04f98a5540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7dcc1565014696"/>
  </p:sldMasterIdLst>
  <p:notesMasterIdLst>
    <p:notesMasterId xmlns:r="http://schemas.openxmlformats.org/officeDocument/2006/relationships" r:id="Rd9734a8c4eb04257"/>
  </p:notesMasterIdLst>
  <p:sldIdLst>
    <p:sldId xmlns:r="http://schemas.openxmlformats.org/officeDocument/2006/relationships" id="256" r:id="Rff064ec94ce74c41"/>
    <p:sldId xmlns:r="http://schemas.openxmlformats.org/officeDocument/2006/relationships" id="257" r:id="R67f88efd6e5e40c3"/>
    <p:sldId xmlns:r="http://schemas.openxmlformats.org/officeDocument/2006/relationships" id="258" r:id="R9fc63d836f2b4485"/>
    <p:sldId xmlns:r="http://schemas.openxmlformats.org/officeDocument/2006/relationships" id="259" r:id="Raa267718b6424824"/>
    <p:sldId xmlns:r="http://schemas.openxmlformats.org/officeDocument/2006/relationships" id="260" r:id="R0709f446011f43c3"/>
    <p:sldId xmlns:r="http://schemas.openxmlformats.org/officeDocument/2006/relationships" id="261" r:id="R8d7c78b3fae0435b"/>
    <p:sldId xmlns:r="http://schemas.openxmlformats.org/officeDocument/2006/relationships" id="262" r:id="R072b22763a58436e"/>
    <p:sldId xmlns:r="http://schemas.openxmlformats.org/officeDocument/2006/relationships" id="263" r:id="Rc9e467790bf848ca"/>
    <p:sldId xmlns:r="http://schemas.openxmlformats.org/officeDocument/2006/relationships" id="264" r:id="R42e793be81c2458d"/>
    <p:sldId xmlns:r="http://schemas.openxmlformats.org/officeDocument/2006/relationships" id="265" r:id="R3720760eb73043f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7dcc1565014696" /><Relationship Type="http://schemas.openxmlformats.org/officeDocument/2006/relationships/theme" Target="/ppt/theme/theme1.xml" Id="R19583cbaaafd42e0" /><Relationship Type="http://schemas.openxmlformats.org/officeDocument/2006/relationships/notesMaster" Target="/ppt/notesMasters/notesMaster1.xml" Id="Rd9734a8c4eb04257" /><Relationship Type="http://schemas.openxmlformats.org/officeDocument/2006/relationships/presProps" Target="/ppt/presProps.xml" Id="R4180af6998cc47b5" /><Relationship Type="http://schemas.openxmlformats.org/officeDocument/2006/relationships/viewProps" Target="/ppt/viewProps.xml" Id="R016a1c3325884e91" /><Relationship Type="http://schemas.openxmlformats.org/officeDocument/2006/relationships/tableStyles" Target="/ppt/tableStyles.xml" Id="R7918352998c04ec6" /><Relationship Type="http://schemas.openxmlformats.org/officeDocument/2006/relationships/slide" Target="/ppt/slides/slide1.xml" Id="Rff064ec94ce74c41" /><Relationship Type="http://schemas.openxmlformats.org/officeDocument/2006/relationships/slide" Target="/ppt/slides/slide2.xml" Id="R67f88efd6e5e40c3" /><Relationship Type="http://schemas.openxmlformats.org/officeDocument/2006/relationships/slide" Target="/ppt/slides/slide3.xml" Id="R9fc63d836f2b4485" /><Relationship Type="http://schemas.openxmlformats.org/officeDocument/2006/relationships/slide" Target="/ppt/slides/slide4.xml" Id="Raa267718b6424824" /><Relationship Type="http://schemas.openxmlformats.org/officeDocument/2006/relationships/slide" Target="/ppt/slides/slide5.xml" Id="R0709f446011f43c3" /><Relationship Type="http://schemas.openxmlformats.org/officeDocument/2006/relationships/slide" Target="/ppt/slides/slide6.xml" Id="R8d7c78b3fae0435b" /><Relationship Type="http://schemas.openxmlformats.org/officeDocument/2006/relationships/slide" Target="/ppt/slides/slide7.xml" Id="R072b22763a58436e" /><Relationship Type="http://schemas.openxmlformats.org/officeDocument/2006/relationships/slide" Target="/ppt/slides/slide8.xml" Id="Rc9e467790bf848ca" /><Relationship Type="http://schemas.openxmlformats.org/officeDocument/2006/relationships/slide" Target="/ppt/slides/slide9.xml" Id="R42e793be81c2458d" /><Relationship Type="http://schemas.openxmlformats.org/officeDocument/2006/relationships/slide" Target="/ppt/slides/slide10.xml" Id="R3720760eb73043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4b74ac3fb9e487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bae3d39318406a" /><Relationship Type="http://schemas.openxmlformats.org/officeDocument/2006/relationships/notesMaster" Target="/ppt/notesMasters/notesMaster1.xml" Id="R5b8d2ca83f224f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de54aa59f3498f" /><Relationship Type="http://schemas.openxmlformats.org/officeDocument/2006/relationships/notesMaster" Target="/ppt/notesMasters/notesMaster1.xml" Id="Re606dde93d1743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062b037fc34392" /><Relationship Type="http://schemas.openxmlformats.org/officeDocument/2006/relationships/notesMaster" Target="/ppt/notesMasters/notesMaster1.xml" Id="Rce31aff6381845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1fb0b58031401b" /><Relationship Type="http://schemas.openxmlformats.org/officeDocument/2006/relationships/notesMaster" Target="/ppt/notesMasters/notesMaster1.xml" Id="Rcaaa50c6c5974a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10b627e5df41de" /><Relationship Type="http://schemas.openxmlformats.org/officeDocument/2006/relationships/notesMaster" Target="/ppt/notesMasters/notesMaster1.xml" Id="Rcd87adf104c849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d40b4c52f94e69" /><Relationship Type="http://schemas.openxmlformats.org/officeDocument/2006/relationships/notesMaster" Target="/ppt/notesMasters/notesMaster1.xml" Id="R8de0575338aa4ea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ab8e183f4245b9" /><Relationship Type="http://schemas.openxmlformats.org/officeDocument/2006/relationships/notesMaster" Target="/ppt/notesMasters/notesMaster1.xml" Id="R29a2dcd7f6aa440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7b1448c7a74f70" /><Relationship Type="http://schemas.openxmlformats.org/officeDocument/2006/relationships/notesMaster" Target="/ppt/notesMasters/notesMaster1.xml" Id="R749bd22f4e6446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0dddeb0898427f" /><Relationship Type="http://schemas.openxmlformats.org/officeDocument/2006/relationships/notesMaster" Target="/ppt/notesMasters/notesMaster1.xml" Id="Re54ab7cf08ac4c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1761564e7840ab" /><Relationship Type="http://schemas.openxmlformats.org/officeDocument/2006/relationships/notesMaster" Target="/ppt/notesMasters/notesMaster1.xml" Id="Rae0088dcf19745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6e5a509ab415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e55e1e403224eaf" /><Relationship Type="http://schemas.openxmlformats.org/officeDocument/2006/relationships/slideLayout" Target="/ppt/slideLayouts/slideLayout2.xml" Id="Rfbb487dc577a42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b487dc577a42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1897c3da7d4dcd" /><Relationship Type="http://schemas.openxmlformats.org/officeDocument/2006/relationships/notesSlide" Target="/ppt/notesSlides/notesSlide1.xml" Id="Re9512b4dbf5843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4b4f6f97ef4a07" /><Relationship Type="http://schemas.openxmlformats.org/officeDocument/2006/relationships/notesSlide" Target="/ppt/notesSlides/notesSlide2.xml" Id="Rf62c378b4f364e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db02c17b54431b" /><Relationship Type="http://schemas.openxmlformats.org/officeDocument/2006/relationships/notesSlide" Target="/ppt/notesSlides/notesSlide3.xml" Id="R687a3c2625a94a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9c69e45f784546" /><Relationship Type="http://schemas.openxmlformats.org/officeDocument/2006/relationships/notesSlide" Target="/ppt/notesSlides/notesSlide4.xml" Id="R8766b475b2c048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f363f5cec145e6" /><Relationship Type="http://schemas.openxmlformats.org/officeDocument/2006/relationships/notesSlide" Target="/ppt/notesSlides/notesSlide5.xml" Id="R846d848798c247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1d12e0522a48a0" /><Relationship Type="http://schemas.openxmlformats.org/officeDocument/2006/relationships/notesSlide" Target="/ppt/notesSlides/notesSlide6.xml" Id="R6a395b12e8954b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c559013b8b4d81" /><Relationship Type="http://schemas.openxmlformats.org/officeDocument/2006/relationships/notesSlide" Target="/ppt/notesSlides/notesSlide7.xml" Id="Re93a3887632345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7a97d7e6534b73" /><Relationship Type="http://schemas.openxmlformats.org/officeDocument/2006/relationships/notesSlide" Target="/ppt/notesSlides/notesSlide8.xml" Id="Rcde2afcbb720482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3223fc8aef4951" /><Relationship Type="http://schemas.openxmlformats.org/officeDocument/2006/relationships/notesSlide" Target="/ppt/notesSlides/notesSlide9.xml" Id="Rf54c26b7d946492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fcae3e789f4493" /><Relationship Type="http://schemas.openxmlformats.org/officeDocument/2006/relationships/notesSlide" Target="/ppt/notesSlides/notesSlide10.xml" Id="Rf5e33d3e19c2434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E1E8BC-86A6-4BFF-ADF9-923C8257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8A6BA-FED9-4F6F-AA0E-98B9BDC9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09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DD51E2-3836-43DB-87B4-48DEA4E1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CC9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CC9FF"/>
                </a:solidFill>
                <a:latin typeface="Aptos"/>
                <a:ea typeface="Aptos"/>
                <a:cs typeface="Aptos"/>
              </a:rPr>
              <a:t>CLINICAL ANALYTICS PITCH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47FEE-F26F-4BAF-9C76-698C4D76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2857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Sepsis as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proof case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029B01-291B-4A3D-B3E2-F5A2E7D7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1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EA068-A596-4E9A-9527-EB71C46E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2DC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2DCE8"/>
                </a:solidFill>
                <a:latin typeface="Aptos"/>
                <a:ea typeface="Aptos"/>
                <a:cs typeface="Aptos"/>
              </a:rPr>
              <a:t>Clinician-facing pitch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9C4AB-4EAF-405B-8026-D815388F2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89535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B2F60C-A556-4CE1-A27D-10143FA1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0477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0.7988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4E012-81F7-4761-803A-3C81430F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5049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XGBoost AUROC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F83AAD-F109-4CA7-A3B7-46A7271D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907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patient-level CV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E2934B-DA0F-40F4-A118-0C56BDBF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89535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D8197-54DC-4E5B-9D50-84BFBA0C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0477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119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443F36-4E79-4338-BCC2-1229F1D9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5049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audit-ready features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41A1C-4CDB-47CD-B0D0-35D2865A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17907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after exclusions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BF7B7-9E76-4172-AAD7-AA170CEA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895350"/>
            <a:ext cx="20002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E13DC4-23EA-47B1-BF85-0FC514CF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047750"/>
            <a:ext cx="1657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6D28D9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40K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4CFE4F-7EF5-473E-A5D4-6CCB17E18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50495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open ICU patients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5B7493-FD8B-424D-9940-2AFD13868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790700"/>
            <a:ext cx="1657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PhysioNet PoC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46D2A7-5B64-47B0-8B9E-F2783A91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6477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model is not the product.</a:t>
            </a:r>
          </a:p>
          <a:p xmlns:a="http://schemas.openxmlformats.org/drawingml/2006/main">
            <a:pPr algn="l">
              <a:def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repeatable analytics workflow 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8E5E7F-4603-407D-AA62-30E991F6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290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10A96D-EFE6-40DE-9E76-548C928C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38625"/>
            <a:ext cx="6477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Public ICU data proves the workflow can find signal and expose weak assumptions.</a:t>
            </a:r>
          </a:p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Feature exclusion is part of the pitch: we removed what made the model easier to sell but harder to trust.</a:t>
            </a:r>
          </a:p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The ask is access to richer hospital data so the same framework can become clinically valuable.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EE54E1-18EF-4372-B168-E998E191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Clean run: 2026-05-23</a:t>
            </a:r>
          </a:p>
        </p:txBody>
      </p:sp>
    </p:spTree>
    <p:extLst>
      <p:ext uri="{BB962C8B-B14F-4D97-AF65-F5344CB8AC3E}">
        <p14:creationId xmlns:p14="http://schemas.microsoft.com/office/powerpoint/2010/main" val="29153779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70840B-7CA5-4D19-9DE4-FAFED27F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5DBC89-B001-42CC-B65F-0A384A4E3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THE PITCH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9F326-14CF-4050-8EEB-1BE645FA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Hospitals do not just need another black-box sepsis score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B7733B-2DBA-4C33-A82C-63CE0492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876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They need a defensible analytics workflow that turns local EHR data into clinically reviewable risk tools.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251B4-23D0-4615-BEEE-84F9F957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5B2A95-24BE-4308-988A-AB28D31E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2952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4E1"/>
          </a:solidFill>
          <a:ln xmlns:a="http://schemas.openxmlformats.org/drawingml/2006/main" w="9525">
            <a:solidFill>
              <a:srgbClr val="FDE4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A37B1-9AED-4A4D-830E-1BD75914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38425"/>
            <a:ext cx="2686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Data problem</a:t>
            </a:r>
          </a:p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Signals are mixed with 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4C07B8-340B-4924-A953-B0D2D9CC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24125"/>
            <a:ext cx="2952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DCE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5160B0-8418-4A81-803B-26DEEFB5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638425"/>
            <a:ext cx="2686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Our framework</a:t>
            </a:r>
          </a:p>
          <a:p xmlns:a="http://schemas.openxmlformats.org/drawingml/2006/main">
            <a:pPr algn="l">
              <a:defRPr sz="12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Clean, validate, 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4D3ED6-A8BC-4977-980A-13B4FA21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24125"/>
            <a:ext cx="2952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5EA"/>
          </a:solidFill>
          <a:ln xmlns:a="http://schemas.openxmlformats.org/drawingml/2006/main" w="9525">
            <a:solidFill>
              <a:srgbClr val="E5F5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B6A980-740A-498E-86F1-527709684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686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Hospital value</a:t>
            </a:r>
          </a:p>
          <a:p xmlns:a="http://schemas.openxmlformats.org/drawingml/2006/main">
            <a:pPr algn="l">
              <a:defRPr sz="120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Local model + review loop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C87449-3F85-44DA-8B5C-69ADE58F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33875"/>
            <a:ext cx="952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The current public-data model is a feasibility demo.</a:t>
            </a:r>
          </a:p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The core deliverable is a repeatable pipeline for building and governing prediction models.</a:t>
            </a:r>
          </a:p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Hospital data is required to separate real deterioration from baseline severity and clinical attention.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A9845B-7865-4ED8-B603-07EF7762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182753539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005E03-2E6D-4CE2-AB6F-BFD8444A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F5BF8C-79C9-4F6D-8A89-30057697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WHY THIS IS NEEDED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91DD2F-11C8-4BA4-BBC9-3CEAA670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Clinical data is useful, but raw EHR fields are not automatically predictive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B97575-728F-461D-874D-D7D51BA8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B9F9D-43B1-4996-9E70-7BD36EF3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31CE9-95CB-4B14-A1BD-9BCA0C3E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appears in EHR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154937-D125-4F5C-95CC-1A49142D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57450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it is risky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C9900C-6ED3-48A6-8AC8-FC8F2686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57450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the workflow does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01F181-AB80-41FF-8E7C-138D9FAE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19425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3CADB4-2876-45E5-99BC-B086C24B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95625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High lactate, oxygen support, frequent labs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6685D5-B222-4F2D-BA73-2C5127B0F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95625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May reflect existing illness or clinician concern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153C19-6DC3-40D3-AEDC-51F0C9B1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95625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Separates static markers from trajectories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0F7AE1-1EE5-473F-A6D1-64A22A2E6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98D16D-F233-4DDB-89CF-38739803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Unit, admission timing, ICU length of stay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B1DDD9-D842-4FD3-9560-9D17C77A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Can encode hospital workflow rather than biology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62E957-1B36-4E76-AEA1-04DE0498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33800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Excludes leakage and site shortcuts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74A31D-0104-4B8A-A985-B91980E1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95775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C45B2-EBE7-44EB-BBB8-B9673069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71975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One-hour risk spikes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BD7C00-94E1-4BB9-A445-3F88223D2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71975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Can create alert fatigue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8DEB93-3B7C-4876-BAC1-2AEFEDDB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71975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Tests sustained-alert logic before deployment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4BC8A-896D-4F93-9401-90BF6CB55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33950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7E1848-60A7-40B2-B3EE-B1B02D8A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Missing severity variables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42DE89-FDE3-4316-A90E-02A176D4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010150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Limits what public data can prove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2B9DFB-E990-49DC-B199-B24EDB45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010150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Defines the next data request precisely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9DA568-4B41-4CEF-9350-B4FFF6C0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The framework is designed to find both signal and reasons not to trust the signal yet.</a:t>
            </a:r>
          </a:p>
        </p:txBody>
      </p:sp>
    </p:spTree>
    <p:extLst>
      <p:ext uri="{BB962C8B-B14F-4D97-AF65-F5344CB8AC3E}">
        <p14:creationId xmlns:p14="http://schemas.microsoft.com/office/powerpoint/2010/main" val="15990047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9EA280-50C6-4623-B722-3A2E785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A0E4DF-84A3-4C59-979F-CC872121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WHAT WE BUILT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76A683-9D6B-4853-AB44-6590B9DD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An end-to-end workflow from raw hourly ICU data to clinical review artifacts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7F029-91B5-4879-9225-C76750A0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3F2BC-F34D-4EB1-8E98-726EEDC0F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DCEB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D6F93-B877-4C03-AB3A-9B321F21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8E1E04-090C-49DD-9225-3E9A7E6B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Ingest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075C55-6300-4B49-9820-5E64758C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hourly vitals, labs, demographics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29E5F3-43AC-4528-A60B-154CB5F8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F2"/>
          </a:solidFill>
          <a:ln xmlns:a="http://schemas.openxmlformats.org/drawingml/2006/main" w="9525">
            <a:solidFill>
              <a:srgbClr val="DDF7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2C588C-FAB8-4E19-B964-2E4EB9A1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656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6AEA4C-AB4B-4ECF-85BB-9373D450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Clean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4E5D46-816C-4361-A68D-582D4011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missingness, forward-fill, clinical imputation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E73B54-AE9F-4474-8C0B-745BE4ED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587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FF"/>
          </a:solidFill>
          <a:ln xmlns:a="http://schemas.openxmlformats.org/drawingml/2006/main" w="9525">
            <a:solidFill>
              <a:srgbClr val="EFE7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5C947A-59CF-404F-AB4C-B0A5E818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922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1AE74-C6EB-4636-B768-37A87C2F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22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Engineer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144250-6322-4C64-B7DD-567E42D2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22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rolling trends, drift, clinical scores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ED963B-74E4-470D-B95C-1D8907A7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853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4E1"/>
          </a:solidFill>
          <a:ln xmlns:a="http://schemas.openxmlformats.org/drawingml/2006/main" w="9525">
            <a:solidFill>
              <a:srgbClr val="FDE4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435802-9C2F-43EE-B566-5567DBDB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188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75A76F-13AC-4898-B8BC-784CF347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288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Exclude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DB5947-1452-4B6F-AD12-A534A522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288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leakage, workflow proxies, redundancy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102018-84AC-458B-BAE2-2207B946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1190" y="2714625"/>
            <a:ext cx="211836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5EA"/>
          </a:solidFill>
          <a:ln xmlns:a="http://schemas.openxmlformats.org/drawingml/2006/main" w="9525">
            <a:solidFill>
              <a:srgbClr val="E5F5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D3C10E-5CB5-45B5-94AD-A288DE80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4540" y="2847975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40E849-9F61-4018-AF47-EC51459F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5540" y="2828925"/>
            <a:ext cx="14706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911A2C-5FBA-41F2-B10B-975AAC60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5540" y="3171825"/>
            <a:ext cx="147066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patient-level CV, thresholds, audit files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DB1883-8A7B-4CF5-98D0-4A313FE4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37499092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3CF156-9096-4C11-BA9E-429FCEA5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077B2-ECB2-4D07-B423-2535D90F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FEATURE EXCLUSION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D8790-0D77-4AA0-BAA8-5120CFF5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We deliberately removed features that inflated confidence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E88BD2-B98D-4B41-A977-EBAE0D11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DE8497-F658-47EC-8C47-A0502E6C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19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CB929-8908-4092-890B-7E3C3E356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943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Excluded group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A58F9-3849-4E15-AA30-06F02DEB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8125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excluded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A5C992-AAB1-4748-B48F-70FBF94B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Business value of excluding 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F7B43-E6DD-4DA6-BA63-6FF58BED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19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3E093-7C91-403D-9851-01D647989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1943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ICULOS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DE8AC2-6241-44B9-B782-C55D63D2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7655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Length of stay tracks opportunity to become septic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29C03C-E092-4D30-B9C7-DC34B30F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765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Avoids circular prediction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92DE98-DB86-4651-9252-2B080A00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19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E2CBA8-9EE2-46B5-880B-8C90992B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1943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Unit1 / Unit2 / HospAdmTime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EAD543-5A15-49F3-AF7A-73AA5762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7185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Hospital workflow identifiers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986F24-5AF9-4A05-8E31-7A67DE86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718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Improves portability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278CE9-B093-4907-9C28-AB0B4DCD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19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F899B7-8133-4F28-80CB-6463B6F3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1943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raw FiO2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BE453D-A81C-47BA-85B7-A47D2C20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6715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Treatment decision, often oxygen or ventilation support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02D507-798A-4A3F-AB50-3B880719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671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Avoids intervention proxy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0D2273-E980-4D93-925B-6F408DD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1019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F2D244-8F01-43AC-87A0-8AB9AE2E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62450"/>
            <a:ext cx="1943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testing frequency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BAAC32-9FA6-47CC-A2D1-C9528141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6245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Sicker patients get more labs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CD356-C886-4A6D-9DE0-084D1AC1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624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Avoids clinician-attention proxy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9BE975-6C41-430F-8D8A-6E3505FC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019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7AF9B4-C890-4F49-956E-75697BCC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1943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static lab levels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F27EC7-58C7-41E4-BABB-0D43EE1C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5775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Can mark baseline sickness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4A7D27-7A7D-4DA5-B317-767EB7D6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577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Forces trajectory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5D08EA-2176-4A56-B01F-9E0CF395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191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2A3A57-5EF0-4928-AD09-B8F0BB3B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1943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collinear duplicates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96CD0E-42EB-4672-A475-0A7243D8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53050"/>
            <a:ext cx="384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Same signal repeated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3EC07DD-6EF8-4726-920F-7E398CB7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53050"/>
            <a:ext cx="3943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Keeps interpretation stable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D7727D-3D5A-422F-BDF8-2BBC9211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This is a selling point: the workflow makes the model more honest before anyone deploys it.</a:t>
            </a:r>
          </a:p>
        </p:txBody>
      </p:sp>
    </p:spTree>
    <p:extLst>
      <p:ext uri="{BB962C8B-B14F-4D97-AF65-F5344CB8AC3E}">
        <p14:creationId xmlns:p14="http://schemas.microsoft.com/office/powerpoint/2010/main" val="17724368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B7564C-6FC0-4EAF-8291-56E96B04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4B1FD6-509E-4117-A661-0679472A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FEASIBILITY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AA7BD-E262-41D8-8633-741A66EC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cleaned public-data model still finds signal, but it is not deployment-ready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062ED-D7ED-4A4E-B81B-0F6518A8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BFB864-3852-49EA-B771-B180589C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A27A62-070C-46ED-88C9-6CEC2BF5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289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0.7988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425625-A4D0-4749-BF84-FA4EFF1C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861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AUROC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D6883-5814-40A5-AC07-63C7DDC14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718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patient-level CV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C94B7-EBD6-49BF-AE74-F57C46D7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765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107ED3-091D-488C-A6AD-F60A740F0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289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0.0656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1793B0-43AA-485A-9C4A-E40F5FE1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861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PR-AUC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F082D0-3BC8-40B3-9301-4599CC87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718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low prevalence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682F47-27B9-430D-8867-5470CD59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765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BFE83-4A2D-45FC-8C2A-B9F7EBE2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6289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91.4%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CB3A83-648E-4AEB-8769-9959DA95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861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Sensitivity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1194C5-B661-4CBD-865E-7EA8EBDA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3718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threshold 0.30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A32F5-966C-4F5D-A59E-763CF356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765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5D2EC-CB24-4E90-AE39-2A1E630D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289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B7791F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B7791F"/>
                </a:solidFill>
                <a:latin typeface="Aptos"/>
                <a:ea typeface="Aptos"/>
                <a:cs typeface="Aptos"/>
              </a:rPr>
              <a:t>10.3%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4F6D87-DD43-4188-99D3-02FA9D2E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8610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49CD77-2FCD-46FA-870A-F22F4B2B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71850"/>
            <a:ext cx="1847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alert burden remains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EB8F50-E67A-4D9C-90A3-5DE6383B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005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This proves a signal exists in messy ICU data.</a:t>
            </a:r>
          </a:p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It also proves public data is not enough for a clinical claim.</a:t>
            </a:r>
          </a:p>
          <a:p xmlns:a="http://schemas.openxmlformats.org/drawingml/2006/main"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The next value step is local validation on richer hospital data.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6F6942-55A0-42F7-A61A-265BFBC9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5005098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A3E607-C65D-4AB1-A5BE-6819F77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EFF2FF-2A7C-4825-9DDE-3A29C746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WHAT BETTER DATA UNLOCKS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D4DB58-37C2-401F-9B37-058DB2E3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missing variables are exactly what clinicians would ask for before trusting the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B8AEC-AED6-44F3-81B1-5B6BEE89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B10ED-24E8-480A-834F-8A8D3037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32385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1F6F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03A7B3-0925-40A8-B038-E9E2B658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Severity context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0B913-ABDF-4AB1-8F56-5A520A81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2333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SOFA/APACHE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diagnoses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comorbidities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baseline organ dysfunction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CE9CA-133C-41A3-8A2B-6D4CE409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32385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F2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D3641-EFBC-431B-89F2-477089FF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1937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Interventions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63D6AA-0D0A-4FD2-A3FC-7B1E2C9F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43250"/>
            <a:ext cx="2333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vasopressors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ventilation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antibiotics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fluids and cultures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B37DEA-1CC7-4383-88E7-ADB3CC99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323850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5EA"/>
          </a:solidFill>
          <a:ln xmlns:a="http://schemas.openxmlformats.org/drawingml/2006/main" w="9525">
            <a:solidFill>
              <a:srgbClr val="217A4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2276FF-F770-4B65-B565-706BAE8F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619375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Outcomes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DBE30A-BA7C-41DF-BA58-D67959A1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143250"/>
            <a:ext cx="2333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confirmed onset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alert review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workflow impact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mortality / ICU LOS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A127D8-A49F-4CD4-AC3F-B50C5835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151190511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D03363-CE97-43C3-8791-E20642C9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EA05D-A3A1-4591-864A-D9C05EE7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ENGAGEMENT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8C2EE-D6AD-4637-8BD6-6A579336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Start with a bounded data partnership, not a deployment claim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657F77-8CDC-44A5-B537-512E1B86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58D477-F2D6-4638-8B8D-BDAEDE4B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509838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BFF"/>
          </a:solidFill>
          <a:ln xmlns:a="http://schemas.openxmlformats.org/drawingml/2006/main" w="9525">
            <a:solidFill>
              <a:srgbClr val="DCEB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F40A5-C4A1-4E1B-B8A1-E7918F52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943933-A7DC-4627-8D76-DCB61817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81300"/>
            <a:ext cx="18621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1. Retrospective build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FF5937-E07E-43D6-B588-82F9DEF37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24200"/>
            <a:ext cx="1862138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local EHR extract, leakage audit, baseline model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3E5CF2-51A1-4A92-97B8-5906C4CC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188" y="2667000"/>
            <a:ext cx="2509838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7FF"/>
          </a:solidFill>
          <a:ln xmlns:a="http://schemas.openxmlformats.org/drawingml/2006/main" w="9525">
            <a:solidFill>
              <a:srgbClr val="EFE7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1C8AE6-055A-41DF-8519-AD2B1860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28003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D28D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D28D9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DF4E34-7C37-437F-BEC6-570B3F866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538" y="2781300"/>
            <a:ext cx="18621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2. Clinician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914BA4-7B6F-4BB3-88CC-3C385BB7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538" y="3124200"/>
            <a:ext cx="1862138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feature review, false positives, alert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49FA62-24D9-4148-8224-FDD5DCF1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667000"/>
            <a:ext cx="2509838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7F2"/>
          </a:solidFill>
          <a:ln xmlns:a="http://schemas.openxmlformats.org/drawingml/2006/main" w="9525">
            <a:solidFill>
              <a:srgbClr val="DDF7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F5F946-5128-4702-9F00-1C71AE10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8003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97D2F2-3638-42A8-9ECE-0CFFD9D4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81300"/>
            <a:ext cx="18621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3. Shadow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7D4A9B-57D7-4F91-87BD-D8B50467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124200"/>
            <a:ext cx="1862138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silent scoring on live or recent 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266DE8-831A-4C8B-BEA6-42D7FB30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3463" y="2667000"/>
            <a:ext cx="2509838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5EA"/>
          </a:solidFill>
          <a:ln xmlns:a="http://schemas.openxmlformats.org/drawingml/2006/main" w="9525">
            <a:solidFill>
              <a:srgbClr val="E5F5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265C45-0B28-4B3D-ACE1-C79A872F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6813" y="2800350"/>
            <a:ext cx="342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C74533-2FEC-4596-BF93-D30CBFCE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7813" y="2781300"/>
            <a:ext cx="1862138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4. Workflow pilot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568710-9E15-4FFE-95F8-5DC850FD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7813" y="3124200"/>
            <a:ext cx="1862138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sustained alerts, triage process, outcome tracking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EC740D-EDA0-44B5-B36F-49FFEC96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commercial pitch is a clinical analytics framework that can be reused for sepsis first, then deterioration, AKI, readmission, and capacity planning.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DF4414-9045-4766-860A-1CD43FE6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7630363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5169C1-277E-4D4B-A869-5A520020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C9BCF-D129-44CC-9F7F-99B61117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WHAT WE CAN SAY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34B4A6-D4E1-4385-AA03-60AEAE59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 strong pitch is honest about the current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27C6AB-AD6C-4A8B-A794-3F149642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7BC5DE-F184-406B-8A12-8C2894A0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953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5EA"/>
          </a:solidFill>
          <a:ln xmlns:a="http://schemas.openxmlformats.org/drawingml/2006/main" w="9525">
            <a:solidFill>
              <a:srgbClr val="217A4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1C1ED-B596-4EE8-BBE8-754F27EB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14625"/>
            <a:ext cx="95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17A4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17A43"/>
                </a:solidFill>
                <a:latin typeface="Aptos"/>
                <a:ea typeface="Aptos"/>
                <a:cs typeface="Aptos"/>
              </a:rPr>
              <a:t>Say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F4A77-E463-430B-862C-BE5F0775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90875"/>
            <a:ext cx="4095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We built a defensible analytics workflow.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The public-data model finds signal but needs richer data.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Feature exclusion and clinical review are part of the product.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1A35C-F55D-4B44-AB39-A7C01686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4953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4E1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B94032-5D98-443A-917A-FA17EC1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14625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Do not say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AE4503-2489-4F57-A7C4-9F499BEF6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90875"/>
            <a:ext cx="4095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57150" tIns="19050" rIns="57150" bIns="1905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Deployment-ready sepsis AI.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Severity-independent prediction.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Clinically validated on this dataset.</a:t>
            </a:r>
          </a:p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• Raw lactate/FiO2 alone are early predictors.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41E9AA-508D-4AEF-A3F5-6CB847FE1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155273736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951481-76D7-400F-ABD8-F74572E7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43FE41-2689-4E13-8E0E-8F097CCE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THE 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E54DE-678C-4907-8323-900B5DCA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914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Give us data access to prove whether the workflow creates local clinical value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449A6-D1BC-4C58-B978-E4765672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DE250-7DF2-4C65-B8F9-26ABCEEC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0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CACE45-1AFE-4910-94DF-58BCA55C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FABF7-C762-4186-A290-181D9712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57450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C85F4F-D0AB-4EC8-B1FE-BE59711E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457450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C22BC-D49F-4436-B639-9403724F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19425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646408-B4C3-4A53-85BF-742A1261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95625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De-identified retrospective ICU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91EA65-0E31-44EF-B80E-4078B599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95625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Train and validate on local workflows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A1704-A566-4ED9-B5E8-06F58457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95625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site-specific performance and failure modes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CACF91-B811-4556-8D7C-7AF91E24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95EA69-65BA-4672-B42C-3A32CA25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Severity and intervention fields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803EA0-7786-4A19-8292-8378EE34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33800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Separate baseline illness from new deterioration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EAC79-2D9B-4BD4-B501-147F6E10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733800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clinically credible features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CF725-5565-4358-A92E-5600F7FB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95775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B6BF94-7AEA-44D0-9963-7D7C0B47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71975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Clinician review 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6C3F48-A165-4303-82B5-8957881A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71975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Interpret false positives and missed cases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C5DBDE-26F2-42AD-A7AF-2BCC0047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71975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deployable alert logic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7C9423-9E56-4033-82EE-9E0DCB1A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33950"/>
            <a:ext cx="1000125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CD866B-429C-43C7-B5F1-E972BECDA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2800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Shadow validation period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EDA53-042A-4424-A202-9319496C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010150"/>
            <a:ext cx="3562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Measure operational impact before go-live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D98277-CE2D-4CB0-BAC6-441F7692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010150"/>
            <a:ext cx="31813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go / no-go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36FA35-40D8-48BB-8F51-EE37B2FD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7A8695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7A8695"/>
                </a:solidFill>
                <a:latin typeface="Aptos"/>
                <a:ea typeface="Aptos"/>
                <a:cs typeface="Aptos"/>
              </a:rPr>
              <a:t>PhysioNet/CinC 2019 | cleaned 119-feature model | patient-level CV</a:t>
            </a:r>
          </a:p>
        </p:txBody>
      </p:sp>
    </p:spTree>
    <p:extLst>
      <p:ext uri="{BB962C8B-B14F-4D97-AF65-F5344CB8AC3E}">
        <p14:creationId xmlns:p14="http://schemas.microsoft.com/office/powerpoint/2010/main" val="5516927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2026-05-22T21:36:32.3660000Z</dcterms:created>
  <dcterms:modified xsi:type="dcterms:W3CDTF">2026-05-22T21:36:32.3660000Z</dcterms:modified>
</coreProperties>
</file>