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2ae083a90784de3" /><Relationship Type="http://schemas.openxmlformats.org/officeDocument/2006/relationships/extended-properties" Target="/docProps/app.xml" Id="Ref91f83593fb4993" /><Relationship Type="http://schemas.openxmlformats.org/officeDocument/2006/relationships/officeDocument" Target="/ppt/presentation.xml" Id="R4971e96561de42d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71c10537d8d4d60"/>
  </p:sldMasterIdLst>
  <p:notesMasterIdLst>
    <p:notesMasterId xmlns:r="http://schemas.openxmlformats.org/officeDocument/2006/relationships" r:id="R1f118dbdfdfd41bf"/>
  </p:notesMasterIdLst>
  <p:sldIdLst>
    <p:sldId xmlns:r="http://schemas.openxmlformats.org/officeDocument/2006/relationships" id="256" r:id="Ra9b680777a724fa4"/>
    <p:sldId xmlns:r="http://schemas.openxmlformats.org/officeDocument/2006/relationships" id="257" r:id="Ra44f0da06aea4cf7"/>
    <p:sldId xmlns:r="http://schemas.openxmlformats.org/officeDocument/2006/relationships" id="258" r:id="R9377e18cc15e448a"/>
    <p:sldId xmlns:r="http://schemas.openxmlformats.org/officeDocument/2006/relationships" id="259" r:id="R08f471f76ccc46e1"/>
    <p:sldId xmlns:r="http://schemas.openxmlformats.org/officeDocument/2006/relationships" id="260" r:id="R4efc85ecda5146d2"/>
    <p:sldId xmlns:r="http://schemas.openxmlformats.org/officeDocument/2006/relationships" id="261" r:id="Ra43e2d6ee6944258"/>
    <p:sldId xmlns:r="http://schemas.openxmlformats.org/officeDocument/2006/relationships" id="262" r:id="R7d265ae3d3b9498c"/>
    <p:sldId xmlns:r="http://schemas.openxmlformats.org/officeDocument/2006/relationships" id="263" r:id="R1470c33aeb7d4d3b"/>
    <p:sldId xmlns:r="http://schemas.openxmlformats.org/officeDocument/2006/relationships" id="264" r:id="Raf5216dbf26749ff"/>
    <p:sldId xmlns:r="http://schemas.openxmlformats.org/officeDocument/2006/relationships" id="265" r:id="R4753f9ce07ab4e6f"/>
    <p:sldId xmlns:r="http://schemas.openxmlformats.org/officeDocument/2006/relationships" id="266" r:id="R63563c9e3a164f6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1c10537d8d4d60" /><Relationship Type="http://schemas.openxmlformats.org/officeDocument/2006/relationships/theme" Target="/ppt/theme/theme1.xml" Id="R11a15bf931f44f8a" /><Relationship Type="http://schemas.openxmlformats.org/officeDocument/2006/relationships/notesMaster" Target="/ppt/notesMasters/notesMaster1.xml" Id="R1f118dbdfdfd41bf" /><Relationship Type="http://schemas.openxmlformats.org/officeDocument/2006/relationships/presProps" Target="/ppt/presProps.xml" Id="Ra47da68f8683421a" /><Relationship Type="http://schemas.openxmlformats.org/officeDocument/2006/relationships/viewProps" Target="/ppt/viewProps.xml" Id="Racb6f5dd5a2f439d" /><Relationship Type="http://schemas.openxmlformats.org/officeDocument/2006/relationships/tableStyles" Target="/ppt/tableStyles.xml" Id="Rd38893fd82114caf" /><Relationship Type="http://schemas.openxmlformats.org/officeDocument/2006/relationships/slide" Target="/ppt/slides/slide1.xml" Id="Ra9b680777a724fa4" /><Relationship Type="http://schemas.openxmlformats.org/officeDocument/2006/relationships/slide" Target="/ppt/slides/slide2.xml" Id="Ra44f0da06aea4cf7" /><Relationship Type="http://schemas.openxmlformats.org/officeDocument/2006/relationships/slide" Target="/ppt/slides/slide3.xml" Id="R9377e18cc15e448a" /><Relationship Type="http://schemas.openxmlformats.org/officeDocument/2006/relationships/slide" Target="/ppt/slides/slide4.xml" Id="R08f471f76ccc46e1" /><Relationship Type="http://schemas.openxmlformats.org/officeDocument/2006/relationships/slide" Target="/ppt/slides/slide5.xml" Id="R4efc85ecda5146d2" /><Relationship Type="http://schemas.openxmlformats.org/officeDocument/2006/relationships/slide" Target="/ppt/slides/slide6.xml" Id="Ra43e2d6ee6944258" /><Relationship Type="http://schemas.openxmlformats.org/officeDocument/2006/relationships/slide" Target="/ppt/slides/slide7.xml" Id="R7d265ae3d3b9498c" /><Relationship Type="http://schemas.openxmlformats.org/officeDocument/2006/relationships/slide" Target="/ppt/slides/slide8.xml" Id="R1470c33aeb7d4d3b" /><Relationship Type="http://schemas.openxmlformats.org/officeDocument/2006/relationships/slide" Target="/ppt/slides/slide9.xml" Id="Raf5216dbf26749ff" /><Relationship Type="http://schemas.openxmlformats.org/officeDocument/2006/relationships/slide" Target="/ppt/slides/slide10.xml" Id="R4753f9ce07ab4e6f" /><Relationship Type="http://schemas.openxmlformats.org/officeDocument/2006/relationships/slide" Target="/ppt/slides/slide11.xml" Id="R63563c9e3a164f6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a974cd2f0ea749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870890cd8644263" /><Relationship Type="http://schemas.openxmlformats.org/officeDocument/2006/relationships/notesMaster" Target="/ppt/notesMasters/notesMaster1.xml" Id="Rad4c078f18f6467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efbdf1940224eda" /><Relationship Type="http://schemas.openxmlformats.org/officeDocument/2006/relationships/notesMaster" Target="/ppt/notesMasters/notesMaster1.xml" Id="Rb704059f19c3469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95e62f176a74876" /><Relationship Type="http://schemas.openxmlformats.org/officeDocument/2006/relationships/notesMaster" Target="/ppt/notesMasters/notesMaster1.xml" Id="R219c2adc3869425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1b7cd274d764d1c" /><Relationship Type="http://schemas.openxmlformats.org/officeDocument/2006/relationships/notesMaster" Target="/ppt/notesMasters/notesMaster1.xml" Id="R4c780c1468234b2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c935b32e77e42dd" /><Relationship Type="http://schemas.openxmlformats.org/officeDocument/2006/relationships/notesMaster" Target="/ppt/notesMasters/notesMaster1.xml" Id="R2ea8121b77c8427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e6b30899f8f400a" /><Relationship Type="http://schemas.openxmlformats.org/officeDocument/2006/relationships/notesMaster" Target="/ppt/notesMasters/notesMaster1.xml" Id="R47954c0452be48c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c1056bbe22a47bf" /><Relationship Type="http://schemas.openxmlformats.org/officeDocument/2006/relationships/notesMaster" Target="/ppt/notesMasters/notesMaster1.xml" Id="R608b99d88586465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62e6f3474b14d59" /><Relationship Type="http://schemas.openxmlformats.org/officeDocument/2006/relationships/notesMaster" Target="/ppt/notesMasters/notesMaster1.xml" Id="Reec471d23fe4459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37b2f6927724181" /><Relationship Type="http://schemas.openxmlformats.org/officeDocument/2006/relationships/notesMaster" Target="/ppt/notesMasters/notesMaster1.xml" Id="R8eb6c5e8fb41415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898c4204d6c4e12" /><Relationship Type="http://schemas.openxmlformats.org/officeDocument/2006/relationships/notesMaster" Target="/ppt/notesMasters/notesMaster1.xml" Id="R90eacd2205134eb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e0fb4fbce92476e" /><Relationship Type="http://schemas.openxmlformats.org/officeDocument/2006/relationships/notesMaster" Target="/ppt/notesMasters/notesMaster1.xml" Id="R26711a1e30624be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330aea9c7d4696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98379312c3b44faa" /><Relationship Type="http://schemas.openxmlformats.org/officeDocument/2006/relationships/slideLayout" Target="/ppt/slideLayouts/slideLayout2.xml" Id="R65ad38722608421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ad38722608421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520bf5caacd4c57" /><Relationship Type="http://schemas.openxmlformats.org/officeDocument/2006/relationships/notesSlide" Target="/ppt/notesSlides/notesSlide1.xml" Id="R9496e1258c01479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1cb513c4dd46e0" /><Relationship Type="http://schemas.openxmlformats.org/officeDocument/2006/relationships/notesSlide" Target="/ppt/notesSlides/notesSlide2.xml" Id="Ra4e833db8102428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e68ccb024c48f5" /><Relationship Type="http://schemas.openxmlformats.org/officeDocument/2006/relationships/notesSlide" Target="/ppt/notesSlides/notesSlide3.xml" Id="R5d56a30df3ff4c9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979b0b43e3545a3" /><Relationship Type="http://schemas.openxmlformats.org/officeDocument/2006/relationships/notesSlide" Target="/ppt/notesSlides/notesSlide4.xml" Id="R20b6c6bffaea482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029af2e7a3442e" /><Relationship Type="http://schemas.openxmlformats.org/officeDocument/2006/relationships/notesSlide" Target="/ppt/notesSlides/notesSlide5.xml" Id="R0f01a921a054402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fd5b547aae4dc7" /><Relationship Type="http://schemas.openxmlformats.org/officeDocument/2006/relationships/notesSlide" Target="/ppt/notesSlides/notesSlide6.xml" Id="Rdeacf3b57240410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7679b04b6041ff" /><Relationship Type="http://schemas.openxmlformats.org/officeDocument/2006/relationships/notesSlide" Target="/ppt/notesSlides/notesSlide7.xml" Id="R96e8581e2d7540f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a90f36ca344728" /><Relationship Type="http://schemas.openxmlformats.org/officeDocument/2006/relationships/notesSlide" Target="/ppt/notesSlides/notesSlide8.xml" Id="R00cf02c932a442b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3e09ea0ee404d8e" /><Relationship Type="http://schemas.openxmlformats.org/officeDocument/2006/relationships/notesSlide" Target="/ppt/notesSlides/notesSlide9.xml" Id="Rd4cf7590db5b41d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80b52734dd4473" /><Relationship Type="http://schemas.openxmlformats.org/officeDocument/2006/relationships/notesSlide" Target="/ppt/notesSlides/notesSlide10.xml" Id="R83261f958d5b4ad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ae887378e441b5" /><Relationship Type="http://schemas.openxmlformats.org/officeDocument/2006/relationships/notesSlide" Target="/ppt/notesSlides/notesSlide11.xml" Id="R20cb8818c43f4cb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290685-32E4-462C-AE14-489DC9120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61C909-B85A-4698-9482-8620F776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9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25A4FE-4C7A-48E0-87EC-F51D2347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CC9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CC9FF"/>
                </a:solidFill>
                <a:latin typeface="Aptos"/>
                <a:ea typeface="Aptos"/>
                <a:cs typeface="Aptos"/>
              </a:rPr>
              <a:t>SEPSIS EARLY WARNING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66F684-49AD-446C-9A28-FA637F008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47750"/>
            <a:ext cx="2857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Cleaned</a:t>
            </a:r>
          </a:p>
          <a:p xmlns:a="http://schemas.openxmlformats.org/drawingml/2006/main">
            <a:pPr algn="l">
              <a:defRPr sz="29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model update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0FCFDD-54B9-48A1-9000-3838EBCD5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7175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17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81707F-9DC3-4B1C-AE0D-1AE0CAA73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2DCE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2DCE8"/>
                </a:solidFill>
                <a:latin typeface="Aptos"/>
                <a:ea typeface="Aptos"/>
                <a:cs typeface="Aptos"/>
              </a:rPr>
              <a:t>Technical clinician version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6DFBAA-F3C6-4635-8A37-65A240692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895350"/>
            <a:ext cx="2000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280E18-5455-4B84-896A-1E7627E28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047750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0.7988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E5EAF1-4369-4A73-9B94-76345D75E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504950"/>
            <a:ext cx="1657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XGBoost AUROC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A56860-D1E9-4EB5-9B29-0583A46F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790700"/>
            <a:ext cx="1657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patient-level CV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A3046F-380D-468E-BEB9-39497C27C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895350"/>
            <a:ext cx="2000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0DE0B2-9E7D-4F35-A56B-AE7CDF43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1047750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119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2645A4-A265-4D81-8E7C-7F5503091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1504950"/>
            <a:ext cx="1657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final features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65EC9A-D180-4E55-BB17-9027CAD31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1790700"/>
            <a:ext cx="1657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after exclusions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15E570-CE5C-40E0-9AAE-1D97FCB9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895350"/>
            <a:ext cx="2000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407870-C231-48E1-8CEE-68396D4E9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047750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6D28D9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0.773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A6CCD8-5C64-4373-86A7-B218EB297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504950"/>
            <a:ext cx="1657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max retained |r|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406AE2-8F66-4337-AD25-F5471F14A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790700"/>
            <a:ext cx="1657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below 0.8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17860E-2C5B-4966-AA83-D69A99486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71750"/>
            <a:ext cx="6477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A more conservative,</a:t>
            </a:r>
          </a:p>
          <a:p xmlns:a="http://schemas.openxmlformats.org/drawingml/2006/main">
            <a:pPr algn="l">
              <a:defRPr sz="25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more defensible sepsis early-risk model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F6F57E-A243-4B07-B6BF-A3F15997D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290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D69979-A0C3-4001-ABE2-0CC5642BF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38625"/>
            <a:ext cx="6477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Old artifact risk removed: no ICULOS, no unit identifiers, no raw FiO2 in the final model.</a:t>
            </a:r>
          </a:p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Static severity markers are de-emphasized; trajectory and patient-relative drift carry the story.</a:t>
            </a:r>
          </a:p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This is a cleaned early-risk PoC, not severity-independent clinical validation.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4DF9B5-6E6D-4689-969E-EC3DAF866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A869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7A8695"/>
                </a:solidFill>
                <a:latin typeface="Aptos"/>
                <a:ea typeface="Aptos"/>
                <a:cs typeface="Aptos"/>
              </a:rPr>
              <a:t>Clean run: 2026-05-23</a:t>
            </a:r>
          </a:p>
        </p:txBody>
      </p:sp>
    </p:spTree>
    <p:extLst>
      <p:ext uri="{BB962C8B-B14F-4D97-AF65-F5344CB8AC3E}">
        <p14:creationId xmlns:p14="http://schemas.microsoft.com/office/powerpoint/2010/main" val="28660372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94905D7-7E1B-4070-BFA0-80F85D575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F471D7-544D-42C3-B2D7-85985B7AA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PIPELINE CHANGE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BF8F49-7AFC-4CB9-8448-59269C833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9144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Feature cleanup is now part of the validation path, not a post-hoc explanation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D5B227-7F90-4D3B-8D01-F79B6453C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D33A12-CBCB-4206-9B7E-25A295F75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14625"/>
            <a:ext cx="211836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BFF"/>
          </a:solidFill>
          <a:ln xmlns:a="http://schemas.openxmlformats.org/drawingml/2006/main" w="9525">
            <a:solidFill>
              <a:srgbClr val="DCEB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B4E50E-014D-4E5A-BDD9-6253E7403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47975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6C6271-3A3A-4497-A549-4FD881DF0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28925"/>
            <a:ext cx="147066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Build features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C4F084-CD9C-44B8-BE55-B0887DF9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71825"/>
            <a:ext cx="14706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vitals, rolling windows, drift, scores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4B7DDE-94F0-4F47-95F6-A75C6B0C1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2714625"/>
            <a:ext cx="211836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4E1"/>
          </a:solidFill>
          <a:ln xmlns:a="http://schemas.openxmlformats.org/drawingml/2006/main" w="9525">
            <a:solidFill>
              <a:srgbClr val="FDE4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2D75E4-BC43-4E9C-8D58-B56B2AB9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6560" y="2847975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DC6E42-C567-4A65-858F-A182B0D79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2828925"/>
            <a:ext cx="147066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Clinical filter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B50ADD-8B3D-4201-9B77-128D51EF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3171825"/>
            <a:ext cx="14706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drop leakage, static markers, intervention proxies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12E82A-8A7E-487F-82AB-E4B68BA49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5870" y="2714625"/>
            <a:ext cx="211836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FF"/>
          </a:solidFill>
          <a:ln xmlns:a="http://schemas.openxmlformats.org/drawingml/2006/main" w="9525">
            <a:solidFill>
              <a:srgbClr val="EFE7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5EBB05-55B1-4F00-8CB8-E2202CA99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9220" y="2847975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D28D9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AADB64-A181-47A7-8DC6-71E321C72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0220" y="2828925"/>
            <a:ext cx="147066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Fold-local pruning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5AE1E9-B60C-4BC2-B4F5-7656C91BA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0220" y="3171825"/>
            <a:ext cx="14706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|r| &gt;= 0.8, keep higher IV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7DF8E8-BCC2-468C-BB30-3DF55487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8530" y="2714625"/>
            <a:ext cx="211836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7F2"/>
          </a:solidFill>
          <a:ln xmlns:a="http://schemas.openxmlformats.org/drawingml/2006/main" w="9525">
            <a:solidFill>
              <a:srgbClr val="DDF7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13A97A-EE0E-4A67-9C70-628E4019C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1880" y="2847975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25F156-AF0A-48E0-AE45-161EECDF8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2880" y="2828925"/>
            <a:ext cx="147066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Train + calibrate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8A1148-3045-4131-A587-AAD33F998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2880" y="3171825"/>
            <a:ext cx="14706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3-fold patient-level CV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33CB2F-D00B-4EA0-8B0D-797E98533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1190" y="2714625"/>
            <a:ext cx="211836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5EA"/>
          </a:solidFill>
          <a:ln xmlns:a="http://schemas.openxmlformats.org/drawingml/2006/main" w="9525">
            <a:solidFill>
              <a:srgbClr val="E5F5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D7CB02-D307-4CAE-9334-CC6A92578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4540" y="2847975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17A4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17A43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B740BF-76AD-4C38-BA6A-17FF2EAD3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5540" y="2828925"/>
            <a:ext cx="147066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Audit artifacts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8A0059-692D-4D13-AB0E-8A8C10C1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5540" y="3171825"/>
            <a:ext cx="14706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feature list, pairs, max retained |r|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197741A-A306-422D-B1E8-9D794B03D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A869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7A8695"/>
                </a:solidFill>
                <a:latin typeface="Aptos"/>
                <a:ea typeface="Aptos"/>
                <a:cs typeface="Aptos"/>
              </a:rPr>
              <a:t>PhysioNet/CinC 2019 | cleaned 119-feature model | patient-level CV</a:t>
            </a:r>
          </a:p>
        </p:txBody>
      </p:sp>
    </p:spTree>
    <p:extLst>
      <p:ext uri="{BB962C8B-B14F-4D97-AF65-F5344CB8AC3E}">
        <p14:creationId xmlns:p14="http://schemas.microsoft.com/office/powerpoint/2010/main" val="120901385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CC9FE7-A3AA-4C4F-AF95-DEF735D59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020B06-2704-4857-9907-6E8CADEBA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VALIDATION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B55F50-83EA-4258-A484-BB567FD72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9144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CV split is patient-level, and label-informed selection is fold-local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0C58A2-C011-4842-9C5F-96DC125C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280E10-2F1E-4628-8FA4-852107897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1000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DC8A6D-7D0E-42EA-BD00-78E50A207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57450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Component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DCAEAB-6D0A-476B-AACE-8ED891C07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57450"/>
            <a:ext cx="3752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Current implementation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5AF2AF-4451-47FD-9690-23FEF6EA0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57450"/>
            <a:ext cx="3752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Reason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102DBA-E226-4F58-937D-4719FE183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71800"/>
            <a:ext cx="1000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C32BC5-29BA-436A-B1D2-6227EA3BE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Split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E22199-7C33-4381-ADFF-AF853BAB2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48000"/>
            <a:ext cx="3752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StratifiedGroupKFold, 3 folds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C213C6-F379-4EC2-A44B-0BB7C90EE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048000"/>
            <a:ext cx="3752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no patient leakage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93FA56-C86B-46A9-8A02-25CC563E2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62350"/>
            <a:ext cx="1000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2E5B88-DD61-4305-BD7A-8DA063D46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38550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Scaling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277F58-EC75-4A19-8EEA-6113EE492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638550"/>
            <a:ext cx="3752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StandardScaler fit on train fold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101A74-9423-4D37-A5F8-34F0B33C2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638550"/>
            <a:ext cx="3752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no validation distribution leak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11F776-28D8-401F-A74F-DBA09B752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1000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A26DEC-6A69-43D4-8E05-13902686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29100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Collinearity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579FB3-E0D1-4FDA-8100-BF5E73F18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229100"/>
            <a:ext cx="3752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train-fold IV + train-fold correlation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B6C390-75E0-4730-8EDF-C5C91147F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229100"/>
            <a:ext cx="3752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no label leakage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3C6777-36FE-4DB5-98D9-932C6DAA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43450"/>
            <a:ext cx="1000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E0B155-D91B-46DE-822D-BD414B692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Calibration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6A7B8D-85F9-4C2F-9736-79E337202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819650"/>
            <a:ext cx="3752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Platt scaling inside fold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A354FF-9808-45E6-A1F2-5F825BE8A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19650"/>
            <a:ext cx="3752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probability calibration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D996B7-7F87-4A9F-B3A5-4AA0CF2DA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0"/>
            <a:ext cx="1000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50C77B-84EE-49BC-9285-276A8D3B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10200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Metrics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41EFB3-59A9-4169-8010-36341E008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410200"/>
            <a:ext cx="3752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concatenated held-out predictions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2ED16C-A0B9-4A52-8916-4E197A30D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10200"/>
            <a:ext cx="3752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each patient scored once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79F9F0E-98AB-4A9B-97C9-1273B55C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A869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7A8695"/>
                </a:solidFill>
                <a:latin typeface="Aptos"/>
                <a:ea typeface="Aptos"/>
                <a:cs typeface="Aptos"/>
              </a:rPr>
              <a:t>PhysioNet/CinC 2019 | cleaned 119-feature model | patient-level CV</a:t>
            </a:r>
          </a:p>
        </p:txBody>
      </p:sp>
    </p:spTree>
    <p:extLst>
      <p:ext uri="{BB962C8B-B14F-4D97-AF65-F5344CB8AC3E}">
        <p14:creationId xmlns:p14="http://schemas.microsoft.com/office/powerpoint/2010/main" val="211313850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788B7B-4FF7-464E-8FE0-0947D941D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A71035-E70A-43DD-BA17-CEDC76767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FEATURE EXCLUSION AUDIT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297387-6DF8-459B-B50E-1386B5045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9144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model was deliberately made less permissive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B2F2E0-D16B-49EB-B2B9-5FEACAFF9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568FC5-EF41-40E7-BE4E-86E1C18A2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0001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C56546-9AEB-4B97-958A-D3D0380B4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25622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Feature family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A08299-F7CA-498A-B3D4-19849FCD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362200"/>
            <a:ext cx="23241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D0C2DA-14D3-4656-A1CB-12EA1803B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2362200"/>
            <a:ext cx="46577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Rationale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5B023D-7434-4945-B574-ECC4765BA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10001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DB9D1A-B759-4195-8D86-5E41A8822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86075"/>
            <a:ext cx="25622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ICULOS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DABB10-F534-4B42-B17C-1C222C3FD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886075"/>
            <a:ext cx="23241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Excluded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E6855C-3005-4FBD-8F90-FC2CB8678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2886075"/>
            <a:ext cx="46577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time-at-risk confounder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D53F1B-6C39-46E3-ADB1-0DD29E88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001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2694AB-3AD2-4017-AE51-E4EF1D37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25622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Unit1 / Unit2 / HospAdmTime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FFA6D7-4791-4F8D-B5F6-CFCAE1EE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409950"/>
            <a:ext cx="23241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Excluded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823AFE-96DF-4532-AEC9-5C595B2A7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3409950"/>
            <a:ext cx="46577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site/workflow confounding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DA4B8C-6F58-467C-9C8F-B5DA97878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001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0C8F85-C9D3-4194-8F7F-D765FA2F8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33825"/>
            <a:ext cx="25622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raw FiO2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DEDA37-DF37-4238-997C-0E251552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933825"/>
            <a:ext cx="23241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Excluded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176221-B2E8-4561-B232-55D4EF5C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3933825"/>
            <a:ext cx="46577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intervention / oxygen-support decision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C53B65-9B58-440E-AB38-8A688FDCA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10001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A665B9-A54A-4676-B837-969E52D40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25622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measured + hours_since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AF44FB-2543-4C75-A2DC-0E59E977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457700"/>
            <a:ext cx="23241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Excluded by leading filter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32BBD6-E5D8-4B37-BB01-899854E5E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457700"/>
            <a:ext cx="46577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clinical attention signal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75BC66-F5D3-4D31-B113-E86271DCA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001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BC7F1C-5EEA-426B-91FB-B9E416CE1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81575"/>
            <a:ext cx="25622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static lab levels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54A788-F23A-4D6E-A72F-EE47363FF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981575"/>
            <a:ext cx="23241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Dropped where configured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ED98F3D-F62F-43A9-9BBC-65AD78040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981575"/>
            <a:ext cx="46577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baseline severity marker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E0571A-E288-44C2-B444-F68C4F3C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001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C678C3-EA9B-4B65-8796-B5016E90D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05450"/>
            <a:ext cx="25622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correlated duplicates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8BE072-0FFD-4BE5-9E0A-F0D75590F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5505450"/>
            <a:ext cx="23241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Pruned at |r| &gt;= 0.8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D93308E-BC77-456D-A19E-145F879E7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5505450"/>
            <a:ext cx="46577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importance inflation / redundancy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60301CC-6AD7-4694-8391-F53A58D92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A869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7A8695"/>
                </a:solidFill>
                <a:latin typeface="Aptos"/>
                <a:ea typeface="Aptos"/>
                <a:cs typeface="Aptos"/>
              </a:rPr>
              <a:t>PhysioNet/CinC 2019 | cleaned 119-feature model | patient-level CV</a:t>
            </a:r>
          </a:p>
        </p:txBody>
      </p:sp>
    </p:spTree>
    <p:extLst>
      <p:ext uri="{BB962C8B-B14F-4D97-AF65-F5344CB8AC3E}">
        <p14:creationId xmlns:p14="http://schemas.microsoft.com/office/powerpoint/2010/main" val="233176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4B6333-B804-4930-BD8E-142F809CE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150B55-17EE-4061-9309-D935E847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COLLINEARITY PRUNING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C5A7A6-2E34-4BAF-A627-726239B67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9144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early-warning-score family is now represented by one feature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1B5DD2-EFCD-4BF4-8099-7087C91B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34B50B-B8A2-4DF9-BB25-F5674C0BF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667000"/>
            <a:ext cx="8953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FA79EF-8888-4695-AD5D-8BDE6AFCE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743200"/>
            <a:ext cx="3276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Correlated pair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EC5299-AA03-470C-804F-0EAFE1322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743200"/>
            <a:ext cx="990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|r|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EC5F1A-50A3-4375-992D-5EBDC57DB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743200"/>
            <a:ext cx="2038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Kept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073686-CB2D-4AE7-BEEB-75346E1CD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43200"/>
            <a:ext cx="2038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Dropped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BE4D74-6AC3-4D5B-8F94-4246014C1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76600"/>
            <a:ext cx="8953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B699EB-8350-4C3B-AF08-B5229B22A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52800"/>
            <a:ext cx="3276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avg_6h vs max_6h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51467D-CD77-4A20-A76B-8E254E876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352800"/>
            <a:ext cx="990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0.887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DA6165-CC25-4B52-AA6E-FF90FF442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352800"/>
            <a:ext cx="2038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avg_6h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C2FB09-0961-4302-B984-629A151C2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352800"/>
            <a:ext cx="2038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max_6h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56D046-392D-46E1-9C90-A7803DBF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86200"/>
            <a:ext cx="8953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FEA7A4-B2A2-4833-B73F-E6177E4BC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962400"/>
            <a:ext cx="3276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avg_6h vs min_6h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3121F2-0932-4ACF-97ED-4BDC8F82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962400"/>
            <a:ext cx="990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0.836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423A55-DCD4-4942-9783-7A86BA5D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962400"/>
            <a:ext cx="2038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avg_6h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BF44D9-6CF2-44A7-AA7B-8E9F8F22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962400"/>
            <a:ext cx="2038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min_6h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44C464-A191-4AF7-B694-E1E3BE498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95800"/>
            <a:ext cx="8953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57F3AC-505F-4E4D-8C2C-37BF15EC9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572000"/>
            <a:ext cx="3276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current vs avg_6h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2D8A24-0A52-4A69-91AF-8553D1945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572000"/>
            <a:ext cx="990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0.817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A55A84-56B0-46A6-A0F8-AE65B9685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572000"/>
            <a:ext cx="2038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avg_6h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555CDF-6C4C-4B72-A57C-BC6A53F01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72000"/>
            <a:ext cx="2038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current score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4C36A7-1203-4578-BA54-5B01C1B3E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53000"/>
            <a:ext cx="2190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3C769F-F8F2-4C29-9887-8730F73F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105400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119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E65BFA-63A3-4F33-9F79-8BEDE7D99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626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final features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418A1B-4CAF-4042-82C2-6AD88EC75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953000"/>
            <a:ext cx="2190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63D67D-1AD8-4610-A2A3-4D141E9B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105400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6D28D9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39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1A1FD2-2D7E-4A1F-87B6-E08586F3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5626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dropped pairs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DC03EF-9B82-4E55-B111-A2014537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953000"/>
            <a:ext cx="2190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EE8160B-C05C-4A3B-8102-06315DB4F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0.773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203CE7F-A754-4521-82DD-CA4F70125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5626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max retained |r|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F8995F8-EC73-4A20-8D88-012B0A699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A869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7A8695"/>
                </a:solidFill>
                <a:latin typeface="Aptos"/>
                <a:ea typeface="Aptos"/>
                <a:cs typeface="Aptos"/>
              </a:rPr>
              <a:t>PhysioNet/CinC 2019 | cleaned 119-feature model | patient-level CV</a:t>
            </a:r>
          </a:p>
        </p:txBody>
      </p:sp>
    </p:spTree>
    <p:extLst>
      <p:ext uri="{BB962C8B-B14F-4D97-AF65-F5344CB8AC3E}">
        <p14:creationId xmlns:p14="http://schemas.microsoft.com/office/powerpoint/2010/main" val="195470055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EB94C2F-69E4-40A2-BD74-4F61D67A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BB4328-4ED5-45CA-BBE5-65542DB6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MODEL PERFORMANCE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8F2207-B769-4052-B960-245D1AF41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9144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Cleanup reduced headline performance but improved defensibility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674895-11DD-4B26-8866-033DE85C0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E9D9D5-D58C-42D8-9D3A-7D6FD1B23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0035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XGBoost AUROC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C62D97-A0B4-4619-83B7-C61DB3953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28925"/>
            <a:ext cx="5238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7765FF-4F79-4C15-A626-EAA7F1909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28925"/>
            <a:ext cx="4923192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DFBF9D-CD5E-4A6E-A33A-22A55F33A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81300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0.7988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29AC97-A688-4BB6-B730-4FF5A7B27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4671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Logistic AUROC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B43CBD-9166-4EB3-B15B-DA72E0AD1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495675"/>
            <a:ext cx="5238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B0D998-5123-434C-A309-348168366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495675"/>
            <a:ext cx="46101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646A2B-138C-48C9-A629-8FA464210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48050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0.7480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5E7167-C7D8-4D0C-8B6B-091FA57DD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3385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XGBoost PR-AUC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909F5C-C248-4EDC-AA18-11ADEAE6F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162425"/>
            <a:ext cx="5238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8D88D5-3593-4E2B-AEA6-6E83E602D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162425"/>
            <a:ext cx="404308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A29EC7-EE5A-4027-B34E-BAEA1C8F4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14800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0.0656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06BAD4-8866-4624-B276-5695A372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006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Logistic PR-AUC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A8C264-5A78-4CB0-9E75-EE48C721C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29175"/>
            <a:ext cx="5238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2EEF09-85FD-47A5-A827-494954CB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29175"/>
            <a:ext cx="2699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D1AD2C-14AC-4A54-AF6D-DFA5D69E8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781550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0.0438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89BDDA-6895-4657-875A-8390C33E9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572125"/>
            <a:ext cx="914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Interpretation: AUROC remains feasible for risk stratification; PR-AUC and patient precision show alert burden is still unresolved.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D539F7-DAE7-4CDC-B650-E77FAB312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A869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7A8695"/>
                </a:solidFill>
                <a:latin typeface="Aptos"/>
                <a:ea typeface="Aptos"/>
                <a:cs typeface="Aptos"/>
              </a:rPr>
              <a:t>PhysioNet/CinC 2019 | cleaned 119-feature model | patient-level CV</a:t>
            </a:r>
          </a:p>
        </p:txBody>
      </p:sp>
    </p:spTree>
    <p:extLst>
      <p:ext uri="{BB962C8B-B14F-4D97-AF65-F5344CB8AC3E}">
        <p14:creationId xmlns:p14="http://schemas.microsoft.com/office/powerpoint/2010/main" val="1129137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D88606-B1C9-4575-8755-319A1E0E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875E36-2EAD-42A2-9379-03DA58D5E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THRESHOLD BEHAVIOR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9F9BDB-2C7A-4296-B8CB-83AB6D826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9144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Patient-level thresholding shows the operational tradeoff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E75AF-24C0-4126-9EC7-E039F6D9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056222-9CE6-414C-B55E-2A8AEC1D8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33625"/>
            <a:ext cx="8667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895035-DF6D-4B21-8079-22316655C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409825"/>
            <a:ext cx="1276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Threshold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0ACAD6-570E-4FBF-BB18-68A13E294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2409825"/>
            <a:ext cx="1657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Sensitivity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CEA1DC-462A-4AD9-9553-C7B2C595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409825"/>
            <a:ext cx="1657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Specificity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CD566E-2030-4738-B800-A078C74AC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409825"/>
            <a:ext cx="1657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Precision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565C7C-A216-43E1-AA3D-16C0AFC60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2409825"/>
            <a:ext cx="1657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Flagged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35B289-93AA-452A-80E7-919F89991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05125"/>
            <a:ext cx="8667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7273D9-5644-4A35-A1E6-7E120C4E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981325"/>
            <a:ext cx="1276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0.10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16FED6-1899-4334-99A6-8ADA123F1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2981325"/>
            <a:ext cx="1657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99.1%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C36503-2584-4043-9C6D-58F1B7AA6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981325"/>
            <a:ext cx="1657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14.8%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F16301-3915-45E5-BB53-72C7B6E7A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981325"/>
            <a:ext cx="1657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6.5%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2FDFB2-4551-42EB-8FB6-2F6096D4E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2981325"/>
            <a:ext cx="1657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33,896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6422E5-4F7C-4419-9880-35CE6F540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476625"/>
            <a:ext cx="8667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A11991-294A-4DDB-BC0C-78A4C37EA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552825"/>
            <a:ext cx="1276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0.20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3A9357-EA25-4FCD-9037-51D57265A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3552825"/>
            <a:ext cx="1657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96.5%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CE9362-7850-408A-B08A-1BDE4553C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552825"/>
            <a:ext cx="1657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35.8%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D227AF-21C1-4A99-97A7-1EF9ED1A9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552825"/>
            <a:ext cx="1657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8.2%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DD6DC3-48DC-46D2-84FD-C9CF5E210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3552825"/>
            <a:ext cx="1657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26,012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C7BE04-BC62-4DE8-B789-E8947900D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048125"/>
            <a:ext cx="8667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2B2561-DF05-45FB-B083-4403C2414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124325"/>
            <a:ext cx="1276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0.30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83BFF0-7E6B-4E8A-B8C3-F015E49B6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4124325"/>
            <a:ext cx="1657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91.4%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930D20-A4DF-4314-B61B-B715340A1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124325"/>
            <a:ext cx="1657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52.5%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B735733-775A-4D8B-963A-9FFA7A2AD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4124325"/>
            <a:ext cx="1657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10.3%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77D33C-D8BE-4D8B-9E5B-CB039B989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4124325"/>
            <a:ext cx="1657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19,704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08C81E-F14E-4B9A-BC53-83EFEF2D7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19625"/>
            <a:ext cx="8667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D70595C-EE3A-442B-AE7B-23AA94235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695825"/>
            <a:ext cx="1276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0.50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10D54A-8EAE-42C8-AC89-82079AE13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4695825"/>
            <a:ext cx="1657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72.1%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41AA05B-5C1F-4385-B429-FE861B9F2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695825"/>
            <a:ext cx="1657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79.7%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9EE21D-CDD0-4889-A8F8-834510FD7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4695825"/>
            <a:ext cx="1657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17.5%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9907A05-7246-4335-872B-3C17D6BC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4695825"/>
            <a:ext cx="1657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9,133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56AC99E-8B52-48B4-9968-D52ACDE00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A869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7A8695"/>
                </a:solidFill>
                <a:latin typeface="Aptos"/>
                <a:ea typeface="Aptos"/>
                <a:cs typeface="Aptos"/>
              </a:rPr>
              <a:t>PhysioNet/CinC 2019 | cleaned 119-feature model | patient-level CV</a:t>
            </a:r>
          </a:p>
        </p:txBody>
      </p:sp>
    </p:spTree>
    <p:extLst>
      <p:ext uri="{BB962C8B-B14F-4D97-AF65-F5344CB8AC3E}">
        <p14:creationId xmlns:p14="http://schemas.microsoft.com/office/powerpoint/2010/main" val="52799867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405FF8-B1B8-4632-8DA5-BD83C068E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612AB8-3D89-44F4-A0C3-A511811B7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TOP FEATURES AFTER CLEANUP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FD3413-68B7-47E4-9A6A-5E77B23D7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9144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strongest signals are recent clinical score average, temperature, respiratory rate, drift, and pressure minima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A09535-00E1-4F28-A5AD-6B7706D1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1D0A93-3D21-4495-89FB-D94622D1B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66975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63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early_warning_score_avg_6h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013D10-D997-4FB2-AB8E-B2F185F8A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495550"/>
            <a:ext cx="6381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8ACB89-4813-4244-955B-77D8FF969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495550"/>
            <a:ext cx="6381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6F336A-B425-44D8-AA89-6CFB0FD2F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447925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63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63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#1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A9AC06-A15E-4FF6-9667-D6C3B2FF3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24175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Temp_max_6h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686963-D089-498E-87D6-FCEF4AD7A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952750"/>
            <a:ext cx="6381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D9B15A-6329-4BBB-961F-AFD7DCC53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952750"/>
            <a:ext cx="599884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BBDF9C-45F8-4689-B2EE-AE90D771C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905125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63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63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#2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C36D9B-0CFC-4454-A0AC-B42D2EB4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81375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Resp_avg_6h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9007F8-09DB-4188-A72D-9D6B4BF9C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409950"/>
            <a:ext cx="6381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84E326-A485-43B1-8875-64F16AA66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409950"/>
            <a:ext cx="523303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ECC966-B6B7-46D2-92F6-62B1E01F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3362325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63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63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#3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ACF486-9BB7-403B-AFE0-9B3A50ADA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38575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pH_drift_from_normal_6h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E8DA11-A657-4024-B905-17B8D3FB9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867150"/>
            <a:ext cx="6381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D87401-B052-4766-B6FF-9BB19D22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867150"/>
            <a:ext cx="497776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AF4298-BCA1-4130-90C3-7815C39A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3819525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63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63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#4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ECF08A-841B-40F9-BCD4-8141CE6BF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95775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MAP_min_6h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BDF4F7-E161-4E99-A5EF-D48223942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24350"/>
            <a:ext cx="6381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08DD88-89FC-46DC-9A53-F81491D93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24350"/>
            <a:ext cx="433959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760D1F-2E7B-43BA-B179-1E2B336F4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276725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63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63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#5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2EEB4F-C3BB-4424-A539-39FF22DED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52975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HR_max_6h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E6BB00-7A83-4F7C-A2A1-5956175AF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781550"/>
            <a:ext cx="6381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3C4C28-0D59-42F5-B232-712B48E1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781550"/>
            <a:ext cx="421195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7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C15FAB-8B0E-4B85-9168-13DD0600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733925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63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63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#6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82B707-DA59-46FB-89EE-1631A0211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A869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7A8695"/>
                </a:solidFill>
                <a:latin typeface="Aptos"/>
                <a:ea typeface="Aptos"/>
                <a:cs typeface="Aptos"/>
              </a:rPr>
              <a:t>PhysioNet/CinC 2019 | cleaned 119-feature model | patient-level CV</a:t>
            </a:r>
          </a:p>
        </p:txBody>
      </p:sp>
    </p:spTree>
    <p:extLst>
      <p:ext uri="{BB962C8B-B14F-4D97-AF65-F5344CB8AC3E}">
        <p14:creationId xmlns:p14="http://schemas.microsoft.com/office/powerpoint/2010/main" val="110981399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013CA8-0D0D-4C3E-9B2D-639438587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A6DAF6-7278-46CD-81DB-9EF85E72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WHAT THIS DOES NOT PROVE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5934AC-83B5-4286-A63C-7C83A40E8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9144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dataset cannot isolate sepsis risk from baseline severity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0F3D87-500F-4071-B577-B4A77B763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C77F21-563C-460A-AC30-F02FB2909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812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4E1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6CE81A-AB2E-4136-AA82-2BE86DEA2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67000"/>
            <a:ext cx="4095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Missing adjustment variables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9A2D1B-FC08-4E42-8FA7-ADF7F43F1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43250"/>
            <a:ext cx="4000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SOFA/APACHE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diagnoses/comorbidities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vasopressors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ventilation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antibiotics/fluids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urine output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08F150-22FE-428D-9F39-E649617A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812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5EA"/>
          </a:solidFill>
          <a:ln xmlns:a="http://schemas.openxmlformats.org/drawingml/2006/main" w="9525">
            <a:solidFill>
              <a:srgbClr val="217A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B023E4-8007-407E-983F-756E62CC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67000"/>
            <a:ext cx="4000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17A43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17A43"/>
                </a:solidFill>
                <a:latin typeface="Aptos"/>
                <a:ea typeface="Aptos"/>
                <a:cs typeface="Aptos"/>
              </a:rPr>
              <a:t>Current defensible use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71640A-A442-4C82-977E-7F06B3A19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43250"/>
            <a:ext cx="4000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PoC risk stratification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feature-engineering feasibility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argument for richer data access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basis for shadow validation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7515F5-0A47-4A6B-AF6F-F5AA2FAFE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A869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7A8695"/>
                </a:solidFill>
                <a:latin typeface="Aptos"/>
                <a:ea typeface="Aptos"/>
                <a:cs typeface="Aptos"/>
              </a:rPr>
              <a:t>PhysioNet/CinC 2019 | cleaned 119-feature model | patient-level CV</a:t>
            </a:r>
          </a:p>
        </p:txBody>
      </p:sp>
    </p:spTree>
    <p:extLst>
      <p:ext uri="{BB962C8B-B14F-4D97-AF65-F5344CB8AC3E}">
        <p14:creationId xmlns:p14="http://schemas.microsoft.com/office/powerpoint/2010/main" val="8520450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DD6400-CD0A-49B1-98E5-6478CDEC9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7C1786-23BC-49D8-AEFD-14D509567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ARTIFACT AUDIT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489F64-4662-4C77-94A0-1541AB719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9144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Before anyone presents this, verify these files match the cleaned run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52078D-2619-4005-9A01-1E0681A0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2609C9-F810-42F7-A513-BD29DFFD2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33625"/>
            <a:ext cx="904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336BD5-349B-41D0-80CE-2EEE2A025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409825"/>
            <a:ext cx="4324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Artifact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D1A51B-F17C-4789-BD07-CD261FC85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409825"/>
            <a:ext cx="441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Expected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8A4A48-5778-4718-BEA0-7433F029D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67025"/>
            <a:ext cx="904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515D3C-B306-4189-8701-282638EE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943225"/>
            <a:ext cx="4324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feature_names.pkl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46A62A-40CB-474F-89EE-E03F21D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943225"/>
            <a:ext cx="441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119 features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CE4542-CA6D-46FB-A17A-852C4F9F8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0425"/>
            <a:ext cx="904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399CED-5E9B-4BF8-9A64-DD6E445E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76625"/>
            <a:ext cx="4324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final_feature_list.csv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E8A1F5-4302-4DFD-A511-4FF5BD2AF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476625"/>
            <a:ext cx="441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matches feature_names.pkl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F27B72-E6A4-4F96-87BA-BB099E543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33825"/>
            <a:ext cx="904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DD82D6-6397-4FF0-9CB9-BFC0204A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10025"/>
            <a:ext cx="4324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retained_feature_correlation_audit.json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57855E-450A-4816-9DB9-E35F6B816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010025"/>
            <a:ext cx="441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max |r| = 0.773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6D6C3D-01FC-4492-9CCF-5C0DC45C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67225"/>
            <a:ext cx="904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1D1BFB-A09D-47B5-B112-23371B27C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543425"/>
            <a:ext cx="4324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collinearity_pruning_audit.csv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8DBC95-7E9D-4E3E-951C-B37AD890C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543425"/>
            <a:ext cx="441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39 dropped pairs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47F1C8-57D3-406A-8E5C-A4AAEF413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00625"/>
            <a:ext cx="904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2536B1-C0CF-4BDE-A4AE-E48C2EE43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76825"/>
            <a:ext cx="4324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model_metrics.json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6B2562-9C9F-4426-956E-2FEA07549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5076825"/>
            <a:ext cx="441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XGB AUROC = 0.7988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D60AF8-C8A2-4FA8-8D23-A4BD06B9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34025"/>
            <a:ext cx="904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12952D-3A77-44A8-AC1A-CEDD98AA4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610225"/>
            <a:ext cx="4324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shap_ranking.csv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11E52E-D69E-4AE4-A472-A49AF78C4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5610225"/>
            <a:ext cx="441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119 contribution rows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21A8BA-CE94-4735-8D36-F7CA8C95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A869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7A8695"/>
                </a:solidFill>
                <a:latin typeface="Aptos"/>
                <a:ea typeface="Aptos"/>
                <a:cs typeface="Aptos"/>
              </a:rPr>
              <a:t>Known issue: SHAP PNGs blocked locally by pyexpat/libexpat; CSV ranking is current.</a:t>
            </a:r>
          </a:p>
        </p:txBody>
      </p:sp>
    </p:spTree>
    <p:extLst>
      <p:ext uri="{BB962C8B-B14F-4D97-AF65-F5344CB8AC3E}">
        <p14:creationId xmlns:p14="http://schemas.microsoft.com/office/powerpoint/2010/main" val="52033092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71AAF7F-D024-4D7D-B06E-AB37DA354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FDF778-51B8-4F61-AD45-16D0D11E5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NEXT EXPERIMENTS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0F3DA6-517F-4F27-B5D5-325F323A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9144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next technical work should optimize clinical utility, not just AUROC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9B1434-86A0-4F7E-9C19-F1190882E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88A92D-F485-468A-A275-0A000570A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2509838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BFF"/>
          </a:solidFill>
          <a:ln xmlns:a="http://schemas.openxmlformats.org/drawingml/2006/main" w="9525">
            <a:solidFill>
              <a:srgbClr val="DCEB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301A44-FFC2-4C4E-ABD1-C3B960868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00350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921C74-35E9-417F-A522-FFC0C35C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781300"/>
            <a:ext cx="1862138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Ablations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7E1C4C-0402-4BB6-8B7A-1BA6878BF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24200"/>
            <a:ext cx="1862138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vitals-only, drift-only, labs-only, no score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2BB616-359F-4EEB-A72F-60B030063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667000"/>
            <a:ext cx="2509838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7F2"/>
          </a:solidFill>
          <a:ln xmlns:a="http://schemas.openxmlformats.org/drawingml/2006/main" w="9525">
            <a:solidFill>
              <a:srgbClr val="DDF7F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4F7BDD-CB85-408B-BE08-DF2810B42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8538" y="2800350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A2878C-41EF-4683-8D48-3EF9698C8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538" y="2781300"/>
            <a:ext cx="1862138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Alert aggregation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5D65B8-76B2-44E2-A65C-B5B7802C4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538" y="3124200"/>
            <a:ext cx="1862138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X consecutive hours, smoothing, hysteresis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F3EAF0-A9DB-4D3D-831C-5CD0E93F1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667000"/>
            <a:ext cx="2509838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6"/>
          </a:solidFill>
          <a:ln xmlns:a="http://schemas.openxmlformats.org/drawingml/2006/main" w="9525">
            <a:solidFill>
              <a:srgbClr val="FFF3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0CB7B0-CBC2-4081-B98F-C9EA96F96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800350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AB16D4-0C12-4F34-9B8E-1D164BBC0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781300"/>
            <a:ext cx="1862138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Severity data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89FA1E-551C-4CBC-81EB-84F82619F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124200"/>
            <a:ext cx="1862138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SOFA/APACHE, meds, ventilation, vasopressors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0150A5-8221-4FA6-87A7-FBF03493A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3463" y="2667000"/>
            <a:ext cx="2509838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5EA"/>
          </a:solidFill>
          <a:ln xmlns:a="http://schemas.openxmlformats.org/drawingml/2006/main" w="9525">
            <a:solidFill>
              <a:srgbClr val="E5F5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4CF7C9-5CBB-49C9-8174-798C17326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6813" y="2800350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17A4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17A43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4E1B6F-0F6C-4236-AE28-22C43CF67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7813" y="2781300"/>
            <a:ext cx="1862138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Prospective shadowing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A6FC9E-93E2-43FD-89A1-8BF69986A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7813" y="3124200"/>
            <a:ext cx="1862138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clinician review + alert fatigue measurement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551D77-34F4-4791-B987-C6978903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A869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7A8695"/>
                </a:solidFill>
                <a:latin typeface="Aptos"/>
                <a:ea typeface="Aptos"/>
                <a:cs typeface="Aptos"/>
              </a:rPr>
              <a:t>PhysioNet/CinC 2019 | cleaned 119-feature model | patient-level CV</a:t>
            </a:r>
          </a:p>
        </p:txBody>
      </p:sp>
    </p:spTree>
    <p:extLst>
      <p:ext uri="{BB962C8B-B14F-4D97-AF65-F5344CB8AC3E}">
        <p14:creationId xmlns:p14="http://schemas.microsoft.com/office/powerpoint/2010/main" val="2205778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2026-05-22T21:22:09.4230000Z</dcterms:created>
  <dcterms:modified xsi:type="dcterms:W3CDTF">2026-05-22T21:22:09.4230000Z</dcterms:modified>
</coreProperties>
</file>