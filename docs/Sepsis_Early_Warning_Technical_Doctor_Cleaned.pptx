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f192d5ade444f" /><Relationship Type="http://schemas.openxmlformats.org/officeDocument/2006/relationships/extended-properties" Target="/docProps/app.xml" Id="R2d559ac6b59d48c4" /><Relationship Type="http://schemas.openxmlformats.org/officeDocument/2006/relationships/officeDocument" Target="/ppt/presentation.xml" Id="R2b7021c3c27345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22f66e53841a4"/>
  </p:sldMasterIdLst>
  <p:notesMasterIdLst>
    <p:notesMasterId xmlns:r="http://schemas.openxmlformats.org/officeDocument/2006/relationships" r:id="R3471d464bf2b4789"/>
  </p:notesMasterIdLst>
  <p:sldIdLst>
    <p:sldId xmlns:r="http://schemas.openxmlformats.org/officeDocument/2006/relationships" id="256" r:id="R5679a5f0c6d8429c"/>
    <p:sldId xmlns:r="http://schemas.openxmlformats.org/officeDocument/2006/relationships" id="257" r:id="Ra47543ff065e40ab"/>
    <p:sldId xmlns:r="http://schemas.openxmlformats.org/officeDocument/2006/relationships" id="258" r:id="R4d63907ce3b94f0a"/>
    <p:sldId xmlns:r="http://schemas.openxmlformats.org/officeDocument/2006/relationships" id="259" r:id="Rf917d45cb10b41eb"/>
    <p:sldId xmlns:r="http://schemas.openxmlformats.org/officeDocument/2006/relationships" id="260" r:id="R79a724690f9f4a28"/>
    <p:sldId xmlns:r="http://schemas.openxmlformats.org/officeDocument/2006/relationships" id="261" r:id="Ra65cb2991b734d66"/>
    <p:sldId xmlns:r="http://schemas.openxmlformats.org/officeDocument/2006/relationships" id="262" r:id="R2faf59fee0624721"/>
    <p:sldId xmlns:r="http://schemas.openxmlformats.org/officeDocument/2006/relationships" id="263" r:id="R8e8e005357dd4c44"/>
    <p:sldId xmlns:r="http://schemas.openxmlformats.org/officeDocument/2006/relationships" id="264" r:id="R567bd62d0da54aa9"/>
    <p:sldId xmlns:r="http://schemas.openxmlformats.org/officeDocument/2006/relationships" id="265" r:id="Rd82fa561a5be4c2f"/>
    <p:sldId xmlns:r="http://schemas.openxmlformats.org/officeDocument/2006/relationships" id="266" r:id="R04c9d921c69043d0"/>
    <p:sldId xmlns:r="http://schemas.openxmlformats.org/officeDocument/2006/relationships" id="267" r:id="R180e2c12d0a84eaf"/>
    <p:sldId xmlns:r="http://schemas.openxmlformats.org/officeDocument/2006/relationships" id="268" r:id="Ra6189cac26f549e1"/>
    <p:sldId xmlns:r="http://schemas.openxmlformats.org/officeDocument/2006/relationships" id="269" r:id="Rd7c18f36d32c4a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22f66e53841a4" /><Relationship Type="http://schemas.openxmlformats.org/officeDocument/2006/relationships/theme" Target="/ppt/theme/theme1.xml" Id="R52a6ba5cd8fc4a92" /><Relationship Type="http://schemas.openxmlformats.org/officeDocument/2006/relationships/notesMaster" Target="/ppt/notesMasters/notesMaster1.xml" Id="R3471d464bf2b4789" /><Relationship Type="http://schemas.openxmlformats.org/officeDocument/2006/relationships/presProps" Target="/ppt/presProps.xml" Id="R0950631892984aeb" /><Relationship Type="http://schemas.openxmlformats.org/officeDocument/2006/relationships/viewProps" Target="/ppt/viewProps.xml" Id="R9ef056e80a0a4510" /><Relationship Type="http://schemas.openxmlformats.org/officeDocument/2006/relationships/tableStyles" Target="/ppt/tableStyles.xml" Id="Racc6cfad5b734348" /><Relationship Type="http://schemas.openxmlformats.org/officeDocument/2006/relationships/slide" Target="/ppt/slides/slide1.xml" Id="R5679a5f0c6d8429c" /><Relationship Type="http://schemas.openxmlformats.org/officeDocument/2006/relationships/slide" Target="/ppt/slides/slide2.xml" Id="Ra47543ff065e40ab" /><Relationship Type="http://schemas.openxmlformats.org/officeDocument/2006/relationships/slide" Target="/ppt/slides/slide3.xml" Id="R4d63907ce3b94f0a" /><Relationship Type="http://schemas.openxmlformats.org/officeDocument/2006/relationships/slide" Target="/ppt/slides/slide4.xml" Id="Rf917d45cb10b41eb" /><Relationship Type="http://schemas.openxmlformats.org/officeDocument/2006/relationships/slide" Target="/ppt/slides/slide5.xml" Id="R79a724690f9f4a28" /><Relationship Type="http://schemas.openxmlformats.org/officeDocument/2006/relationships/slide" Target="/ppt/slides/slide6.xml" Id="Ra65cb2991b734d66" /><Relationship Type="http://schemas.openxmlformats.org/officeDocument/2006/relationships/slide" Target="/ppt/slides/slide7.xml" Id="R2faf59fee0624721" /><Relationship Type="http://schemas.openxmlformats.org/officeDocument/2006/relationships/slide" Target="/ppt/slides/slide8.xml" Id="R8e8e005357dd4c44" /><Relationship Type="http://schemas.openxmlformats.org/officeDocument/2006/relationships/slide" Target="/ppt/slides/slide9.xml" Id="R567bd62d0da54aa9" /><Relationship Type="http://schemas.openxmlformats.org/officeDocument/2006/relationships/slide" Target="/ppt/slides/slide10.xml" Id="Rd82fa561a5be4c2f" /><Relationship Type="http://schemas.openxmlformats.org/officeDocument/2006/relationships/slide" Target="/ppt/slides/slide11.xml" Id="R04c9d921c69043d0" /><Relationship Type="http://schemas.openxmlformats.org/officeDocument/2006/relationships/slide" Target="/ppt/slides/slide12.xml" Id="R180e2c12d0a84eaf" /><Relationship Type="http://schemas.openxmlformats.org/officeDocument/2006/relationships/slide" Target="/ppt/slides/slide13.xml" Id="Ra6189cac26f549e1" /><Relationship Type="http://schemas.openxmlformats.org/officeDocument/2006/relationships/slide" Target="/ppt/slides/slide14.xml" Id="Rd7c18f36d32c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a5789d6de74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8c6b518f24e1d" /><Relationship Type="http://schemas.openxmlformats.org/officeDocument/2006/relationships/notesMaster" Target="/ppt/notesMasters/notesMaster1.xml" Id="R1b4fefe28ac641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cbb5c6bc6d4c22" /><Relationship Type="http://schemas.openxmlformats.org/officeDocument/2006/relationships/notesMaster" Target="/ppt/notesMasters/notesMaster1.xml" Id="R24811a631850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8c77b38ab14b6f" /><Relationship Type="http://schemas.openxmlformats.org/officeDocument/2006/relationships/notesMaster" Target="/ppt/notesMasters/notesMaster1.xml" Id="Rc52396d89d2d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6ad033ff744db" /><Relationship Type="http://schemas.openxmlformats.org/officeDocument/2006/relationships/notesMaster" Target="/ppt/notesMasters/notesMaster1.xml" Id="R15f8e8718d2c4d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5902542ca74921" /><Relationship Type="http://schemas.openxmlformats.org/officeDocument/2006/relationships/notesMaster" Target="/ppt/notesMasters/notesMaster1.xml" Id="R439b4f9bb9b6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930ab502d4757" /><Relationship Type="http://schemas.openxmlformats.org/officeDocument/2006/relationships/notesMaster" Target="/ppt/notesMasters/notesMaster1.xml" Id="R8fab2cf9806d44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a05b5c339d49b4" /><Relationship Type="http://schemas.openxmlformats.org/officeDocument/2006/relationships/notesMaster" Target="/ppt/notesMasters/notesMaster1.xml" Id="R701d1de10c9f4a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67b23ba8ca4526" /><Relationship Type="http://schemas.openxmlformats.org/officeDocument/2006/relationships/notesMaster" Target="/ppt/notesMasters/notesMaster1.xml" Id="Rc718ed71128d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23aa881a934923" /><Relationship Type="http://schemas.openxmlformats.org/officeDocument/2006/relationships/notesMaster" Target="/ppt/notesMasters/notesMaster1.xml" Id="Rd4c011ceb9034b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02aac10c1146fc" /><Relationship Type="http://schemas.openxmlformats.org/officeDocument/2006/relationships/notesMaster" Target="/ppt/notesMasters/notesMaster1.xml" Id="Rd2aca709632249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6bc4e66b3c4ec7" /><Relationship Type="http://schemas.openxmlformats.org/officeDocument/2006/relationships/notesMaster" Target="/ppt/notesMasters/notesMaster1.xml" Id="R654a3c07ac45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e48780759f4938" /><Relationship Type="http://schemas.openxmlformats.org/officeDocument/2006/relationships/notesMaster" Target="/ppt/notesMasters/notesMaster1.xml" Id="Ra2662b77cf9640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9d9ec929b1449e" /><Relationship Type="http://schemas.openxmlformats.org/officeDocument/2006/relationships/notesMaster" Target="/ppt/notesMasters/notesMaster1.xml" Id="Rf61f29d52dac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f121d5c6134a7f" /><Relationship Type="http://schemas.openxmlformats.org/officeDocument/2006/relationships/notesMaster" Target="/ppt/notesMasters/notesMaster1.xml" Id="Rdb66f21dbadc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2e06533b648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eebd957270439e" /><Relationship Type="http://schemas.openxmlformats.org/officeDocument/2006/relationships/slideLayout" Target="/ppt/slideLayouts/slideLayout2.xml" Id="R1d7f6e41344b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f6e41344b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3f585c367a488a" /><Relationship Type="http://schemas.openxmlformats.org/officeDocument/2006/relationships/notesSlide" Target="/ppt/notesSlides/notesSlide1.xml" Id="R723df6e9eb80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e3269b8e94ae1" /><Relationship Type="http://schemas.openxmlformats.org/officeDocument/2006/relationships/notesSlide" Target="/ppt/notesSlides/notesSlide2.xml" Id="Rc2e148856c864b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7b838454d4014" /><Relationship Type="http://schemas.openxmlformats.org/officeDocument/2006/relationships/notesSlide" Target="/ppt/notesSlides/notesSlide3.xml" Id="R89a2c02da45c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c8a4cf952d4e0d" /><Relationship Type="http://schemas.openxmlformats.org/officeDocument/2006/relationships/notesSlide" Target="/ppt/notesSlides/notesSlide4.xml" Id="R9767aad53c5d43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9f31bd1b84234" /><Relationship Type="http://schemas.openxmlformats.org/officeDocument/2006/relationships/notesSlide" Target="/ppt/notesSlides/notesSlide5.xml" Id="R145254ccb2904e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4fccdf8834cc2" /><Relationship Type="http://schemas.openxmlformats.org/officeDocument/2006/relationships/notesSlide" Target="/ppt/notesSlides/notesSlide6.xml" Id="R17782c67d40549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b1dbdacf9437e" /><Relationship Type="http://schemas.openxmlformats.org/officeDocument/2006/relationships/notesSlide" Target="/ppt/notesSlides/notesSlide7.xml" Id="R6541dabdf13d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30b78a23147db" /><Relationship Type="http://schemas.openxmlformats.org/officeDocument/2006/relationships/notesSlide" Target="/ppt/notesSlides/notesSlide8.xml" Id="R400dd500de3c48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de2ad7c924955" /><Relationship Type="http://schemas.openxmlformats.org/officeDocument/2006/relationships/notesSlide" Target="/ppt/notesSlides/notesSlide9.xml" Id="Rfc1ddae0c1e34a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7c35ae50140c4" /><Relationship Type="http://schemas.openxmlformats.org/officeDocument/2006/relationships/notesSlide" Target="/ppt/notesSlides/notesSlide10.xml" Id="R894cb5e9e1124c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77625835904bf0" /><Relationship Type="http://schemas.openxmlformats.org/officeDocument/2006/relationships/notesSlide" Target="/ppt/notesSlides/notesSlide11.xml" Id="Rfd335f3d9f2b43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1a2dc1f204be0" /><Relationship Type="http://schemas.openxmlformats.org/officeDocument/2006/relationships/notesSlide" Target="/ppt/notesSlides/notesSlide12.xml" Id="R1e96fa8ec2df40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5edda8bf3742c9" /><Relationship Type="http://schemas.openxmlformats.org/officeDocument/2006/relationships/notesSlide" Target="/ppt/notesSlides/notesSlide13.xml" Id="R54b874a81d5e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40961b32c4862" /><Relationship Type="http://schemas.openxmlformats.org/officeDocument/2006/relationships/notesSlide" Target="/ppt/notesSlides/notesSlide14.xml" Id="Rac1adf7c00264e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AD3BC-E2BC-4A61-9614-929F210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0E455-FBDF-4FC8-A436-AB071AB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1CDF-79C9-44B2-8C16-3982A1D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9FF"/>
                </a:solidFill>
                <a:latin typeface="Aptos"/>
                <a:ea typeface="Aptos"/>
                <a:cs typeface="Aptos"/>
              </a:rPr>
              <a:t>CLINICAL ANALYTICS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B522C-1117-4AB2-BBF7-82AC47B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Sepsis as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proof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E8BAA-A66F-4F84-B1BD-C1FA4CC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1ADAC-D779-4D3A-8207-B65D3E0E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2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2DCE8"/>
                </a:solidFill>
                <a:latin typeface="Aptos"/>
                <a:ea typeface="Aptos"/>
                <a:cs typeface="Aptos"/>
              </a:rPr>
              <a:t>Technical clinician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0E00E-AD3D-4235-88EA-A1C07F9C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ABDD-5A7A-48D3-8F48-8FAF154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0.7988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3A133-5126-4616-A0A6-9144B52B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XGBoost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995DE-1126-42A9-BE05-41B8017E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patient-level 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616AC-C446-4B31-BCF9-3AB0E89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DB44A-9B84-4585-97DE-C5AF85D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9B195-C734-43E6-B84A-CD0BF27C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audit-ready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7BFD0-AB35-44D5-9A9B-1CDA848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after exclusions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FA423-9CF9-45DB-A2CC-23EE847D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16AF5-349A-4C67-81E5-124C651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40K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3D825-4DBF-4502-B160-1EEE14CA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 ICU patients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B2A6E-5489-4284-B3B9-57F94E7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PhysioNet PoC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8748E-AA02-4BAA-AF1F-3CD08D3B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47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model is not the product.</a:t>
            </a:r>
          </a:p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repeatable analytics workflow 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71D94-5D2F-4573-9489-6F98847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214CD-D478-417F-A1F7-4FBDA45E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647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Public ICU data proves the workflow can find signal and expose weak assumptions.</a:t>
            </a:r>
          </a:p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Feature exclusion is part of the pitch: we removed what made the model easier to sell but harder to trust.</a:t>
            </a:r>
          </a:p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The ask is access to richer hospital data so the same framework can become clinically valuable.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9BE3A-3A0A-4F11-9E9A-EFFA7ACE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Clean run: 2026-05-23</a:t>
            </a:r>
          </a:p>
        </p:txBody>
      </p:sp>
    </p:spTree>
    <p:extLst>
      <p:ext uri="{BB962C8B-B14F-4D97-AF65-F5344CB8AC3E}">
        <p14:creationId xmlns:p14="http://schemas.microsoft.com/office/powerpoint/2010/main" val="301122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C478D2-6CAA-45EA-A744-7E84982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50CA1-71AB-4FB8-A62D-3B5F83F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0C832-29D0-44B5-B088-BB2417E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model is an artifact; the governed modeling workflow is 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7C711-E39D-47F9-82C5-048AD5AB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32639-CF61-4740-976B-210B126B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E1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2E61-A1BA-44BC-8322-5999905B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What we are not selling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A49F-0527-48D9-B8BD-E547003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 deployment-ready sepsis score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 claim that public data proves clinical utility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 black-box model without audit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73FF8-36A9-483D-8789-5D981C5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9CF68-0F6B-4FE7-8310-B4C1D4E4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BE1BB-AAAA-4EF1-851B-8466B52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3850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 full data-to-model pipeline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Feature exclusion and collinearity controls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Held-out patient-level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9168E-7A5E-4C84-9628-386C9C9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217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9B55C-B839-4ABF-BE9A-DB4B7C0B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What hospital data enables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A54B1-4EAB-444E-86C4-844749A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Local calibration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Severity adjustment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Shadow-mode clinical utility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B0766-F57F-40FF-99E3-A8AB82DA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282870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574DB-61E7-4CC8-B326-DF5B6E2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C998F-9012-45D0-966E-DEB5E59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DATA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EE59D-04E9-45E9-8A8A-3540F1CE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public dataset is strong for feasibility and weak for clinical deployment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98517-0E46-4F72-93C2-BAC5589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1FDC5-DC83-44B1-980A-4E11E41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00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AE2F0-3FE6-4C84-ABB0-8EC83620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95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Available in PhysioNet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37E77-33C3-44E1-9B17-8FCCF619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3181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for clinical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359B4-FD0C-42BD-BE09-6F478205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F0647-C699-4BAE-883D-ECD3CF23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00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67F07-8A08-4268-BC92-A0E00C44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895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hourly vitals and periodic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27EE0-EDA1-4634-B578-FA95867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95625"/>
            <a:ext cx="3181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SOFA/APACHE or severity 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9D4E3-FE57-4F87-BF78-32CA567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95625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cannot fully adjust baseline acuity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5B3B-DE99-4776-BBD4-0C1B13B3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00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0E631-BAEC-4129-A78A-0A4C959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895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sepsis label and onset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D09A9-AF5A-45F7-9AAE-B5493B4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3181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interventions and medication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69D40-A24F-4588-8F53-037D668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treatment can look like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6CE5-FCF1-4A2E-8CFF-98F12032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00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3495B-0F7A-4B93-9783-C6B024A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895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40K ICU patients across 2 hospitals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FBDA7-CFDE-48A7-9F26-BE05FD9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71975"/>
            <a:ext cx="3181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EHR workflow details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BF78D-4670-4EE5-A649-958A81D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71975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may learn data collection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6C05D-B19D-434A-82E9-DD365ECD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00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0B482-82AE-432B-AF26-CE9E598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895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 reproducible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6514E-09EC-44AF-A3EC-0EBF309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3181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prospective clinician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5181F-43CD-4A0F-ABFF-64B7E47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real alert utility measurement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0F285-AD0D-4BF6-AE23-FCD61A1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This is why the pitch is data partnership plus workflow, not an off-the-shelf model.</a:t>
            </a:r>
          </a:p>
        </p:txBody>
      </p:sp>
    </p:spTree>
    <p:extLst>
      <p:ext uri="{BB962C8B-B14F-4D97-AF65-F5344CB8AC3E}">
        <p14:creationId xmlns:p14="http://schemas.microsoft.com/office/powerpoint/2010/main" val="5826125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38D46-4980-4CCB-A5DF-715E439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8B71D-F4AC-4D6A-BB7C-DE4F08E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WORKFLOW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0364B-E215-476F-BDD5-14B5D710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Feature cleanup is now part of the validation path, not a post-hoc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A70E7-ABB8-4A08-BD65-376D153D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106BD-7FC3-49A3-8FEA-3CBD076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DA57D-AC09-40B6-B143-7C01967B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39B07-6FC2-47FA-B637-66FDADE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3BBE-0690-41E8-A76A-711BF5F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vitals, rolling windows, drift,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99C81-78EF-4DCA-B66C-D2ACD3A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E1"/>
          </a:solidFill>
          <a:ln xmlns:a="http://schemas.openxmlformats.org/drawingml/2006/main" w="9525">
            <a:solidFill>
              <a:srgbClr val="FDE4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867F7-90B9-4E78-BECD-195FE4C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3A2BA-434A-4322-97EB-48BEDBE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A5003-1538-43FA-B0E0-D7784F5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drop leakage, static markers, intervention proxies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B3E23-A4FF-43CD-84F1-F47E556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542FB-D628-4BB9-A4C4-DBCF2B09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047A9-F456-4E2D-A451-278B615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22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Fold-local pruning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C748C-1F33-48FE-8DE4-8B7F9C19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22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|r| &gt;= 0.8, keep higher IV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4A62B-0EFF-4000-81A8-C75CF68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DF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45ABE-9F83-4330-B7A4-78A3C68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9B0D0-371A-431C-833E-476AA698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 + calibrate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9F08F-3F44-45BE-9B3D-EC19954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3-fold patient-level CV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6F939-2845-4232-B1DE-1A7C9A0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19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E5F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4E4A9-78F5-4D18-986F-1DF48D7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2CD81-D2D5-45AC-9F8A-8051680D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86383-C556-4C38-BF9A-686BA021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feature list, pairs, max retained |r|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F5D71-A0F5-497A-B03E-7F6AF497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2108643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A94D8-E5C8-4798-88A7-16908162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7E144-A067-46A1-8591-0EEBA20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VALIDATION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6C3D2-6CB0-4CA2-BE23-087BC73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CV split is patient-level, and label-informed selection is fold-local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F6DD0-2BDC-4281-8956-6617E7B6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69536-5EFD-456D-8E25-C54726C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EDD2B-8370-4FF9-88FB-14D52BC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D0018-10B0-4FA1-B695-286657AD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40232-5870-4508-B300-362006CC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EE8AD-F024-4521-9AAD-4FD7A38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5E32F-CC1A-4228-8266-572E259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46760-1B8F-4B8E-ABB8-918053C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StratifiedGroupKFold, 3 folds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53683-83C4-48D8-86DB-F0B9A726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patient leakage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75AFA-9CC1-4ABB-BF46-5F000C8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35B60-989F-499C-BAAF-E527604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27A1B-88B0-44B5-8A35-33681015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385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StandardScaler fit on train 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81EB9-3F32-4535-817E-AFB495EA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validation distribution leak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90C30-1CA9-4D44-801D-FA7A7F6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13FF0-DD21-4A1B-8C9D-7E5E6A9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Collinearity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29121-0F25-4C34-A213-57395C8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291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train-fold IV + train-fold correlation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97A95-EA31-4D75-9DE8-CA08E570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291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label leakage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7709E-8C09-47DD-A7BB-6600521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1BACA-CDA4-458D-BCC2-BA4A189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11FC6-E948-4CB4-84AA-9A58AF1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196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Platt scaling inside fold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9A27B-8740-4F42-B4DA-EC3CD6E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196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probability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BA138-9BB5-4A7A-B621-A3E30EC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ADDE8-E7AC-478D-A496-F1051657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7F8B2-92BE-4AA1-99AD-4C394ACB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102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concatenated held-out predictions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36A6A-BF32-422F-84EE-36BF573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102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each patient scored once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1C789-871A-44B8-8B82-20770B62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3435483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CFCFF-CB0F-49FB-AF03-B6ABD842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B1B8F-5B81-4610-85E7-250346E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FEATURE EXCLUSION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E5631-8CE3-4DEC-90FC-468416C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model was deliberately made less permissive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F3A78-D6BD-43C7-8BAF-B115750C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0D0B8-54FB-4B4B-9655-AFB549F9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7E164-313B-4CDD-9382-7EFAFA6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8D4B7-DDE9-48E7-A04A-33936D4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62200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8EE3E-5E15-4607-9882-B63ED84D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62200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4167-46A1-4D8B-B1FD-B024F9A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72BBE-2BCC-40EA-8884-EDE54E76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ICULOS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E6E96-9C9B-4998-A8C4-99225DB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86075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09586-6463-44BC-B972-4670FCB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time-at-risk confounder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79782-0937-4239-A642-C18EBB3E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5F8E0-A509-4836-861F-DD8B505A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Unit1 / Unit2 / HospAdmTime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54903-7A77-444E-9F2E-7037985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09950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780EC-C2D6-49AB-8E2B-5645269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409950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site/workflow confounding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38D3E-2615-4C69-AA2D-1B172F8E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D8806-4A84-418B-91CD-9821838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raw FiO2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0FAA2-63CB-425C-9659-DFC9DA6F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33825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B8C8E-A41E-4E6E-8ED9-B75AEC1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33825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intervention / oxygen-support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45D1D-9746-4853-A8DC-C40239D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C9512-A138-41EA-B83F-D5A52CD9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measured + hours_since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8A8A-B266-4EB0-A510-D0C09427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57700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Excluded by leading filter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3BBD2-025B-402E-83A9-21AA8C28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57700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attention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A01C3-1440-4644-A4DE-38B1841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83DAA-9BC2-4CE6-A384-C2A3143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static lab levels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4F938-9D6A-496A-9166-EC4B1391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81575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Dropped where configured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D7BB9-E7C1-4472-9B11-0ED69F4B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981575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severity marker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E6298-B553-44ED-9323-2DE5CB98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1B53E-3784-41FD-842A-31A47E8C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562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correlated duplicates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7559BA-A26D-40C8-9173-43DC1217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05450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Pruned at |r| &gt;= 0.8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C6209-4698-43BD-8CC4-DAB3E95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505450"/>
            <a:ext cx="465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importance inflation / redundancy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1FB78-0630-467F-9E18-C7E301AA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2576936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1F348-A6CC-46C8-BD4B-9B17E01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85935-5D72-45D9-A4C5-60C6F7E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COLLINEARITY PRUNING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B83D-BA8D-4A80-B326-4C6B5E6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early-warning-score family is now represented by one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DD25A-658E-45CF-835D-54BBE0C5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638E-B6EF-4F91-9A74-62665CC8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ABBE7-33D4-4B72-B693-D521F16A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327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Correlated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937F0-5E7D-4CC6-B566-D5E9E5F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|r|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3F164-6B95-42A8-B47C-8C56C34C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A646E-06D2-413C-978A-FF0CDA12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432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Dropped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278CB-011E-46ED-B00F-BAEDF63E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9DCFB-C5BD-45E1-A8A5-6F51D23B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327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avg_6h vs max_6h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60A54-7733-4E38-9A57-D8BDCEED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FFE59-29E4-4CC7-B80B-1665862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avg_6h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FF7AE-4BC1-41C2-8D8F-3BA8AB4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528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max_6h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41302-68D9-4EB7-A1BC-7CDB63E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03E63-049F-4615-ABA2-45CA56B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327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avg_6h vs min_6h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D83EA-CB6F-4691-A859-9530DBB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AF776-A97C-4B5B-B929-E0B57C2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624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avg_6h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C96D2-46B5-47B8-853C-A83860E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min_6h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485B7-528F-4D18-85A1-68080C8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AAD79-F3A5-4E30-B9F9-C26079B3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327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current vs avg_6h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BE4A0-3D7D-41F5-B1D9-4A5E352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99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EB4B0-F197-49D5-83B1-1F9FE881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avg_6h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AA325-9A21-440D-88EA-55F5C958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current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1D6EF-4061-42FA-93C7-1DAC4E10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BA2A-033E-47BE-8781-E638B92D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B7421-57CC-419D-ABC0-955FEEF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62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68D7C-C56D-4546-B277-E963BA7D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AC1E9-3F46-47C7-9370-F04B4C0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054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B1724-092F-4692-A654-80614EF1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62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dropped pairs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8B1AA-1804-45D5-8D03-51CF0DB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285FD-8E73-4BB6-BBEA-6EDBBE33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0.773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F482D-B862-48E1-B321-11496943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max retained |r|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7811A-09A1-407B-8807-05694022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5788989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BC3BD-7ECF-4157-BE6C-DCBA682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36022-A0AF-4ABB-A1AA-E2FC612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MODEL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16A92-EAF5-4480-8AA8-D84E31D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Cleanup reduced headline performance but improved defensibility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D9F5-1E60-47C4-B3AC-581B03E5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D8A66-DF66-4733-AAC0-7EB318B4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XGBoost AUROC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502DE-F443-48D7-B005-A8C4BFCB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523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5F97D-1E02-484A-BB68-D201BFB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49231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BF84B-AAC7-4029-B8CC-80E3847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0.7988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0E15F-177F-4108-99BC-EDD2525E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Logistic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EE55-B70C-41C9-BC5E-C193707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95675"/>
            <a:ext cx="523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51D89-05C8-44ED-BC57-F36F721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95675"/>
            <a:ext cx="4610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9ADFD-D43E-4FFB-963D-202B988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0.7480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FBEFB-768E-45F5-82E4-C30B3833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XGBoost 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9343D-70F8-4075-800D-207E955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62425"/>
            <a:ext cx="523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F9AA2-782C-4338-9A26-548FAFB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62425"/>
            <a:ext cx="40430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92795-AE43-49B6-A4EE-3250A02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0.0656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423FF-BE6D-43B6-A951-B2AC606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Logistic PR-AUC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DFB22-B1D0-4B0A-870C-30B7CBC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523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B6BF8-72CD-4B4D-854A-35820E0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269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B77B2-73B0-4FAD-AD25-02D3CD1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81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0.0438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E0DAD-6B65-43C5-BA5C-1774C65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Interpretation: AUROC remains feasible for risk stratification; PR-AUC and patient precision show alert burden is still unresolved.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8C798-FB10-43D2-A5BB-F2FBE651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7861273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F9235-0256-440F-8E9C-AEB29D6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6CD5E-4F12-4580-9D4C-02DB490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THRESHOLD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0F044-D565-4CB7-BF1F-65FBC16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Patient-level thresholding shows the operational tradeoff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84617-0A60-4AE7-A6FB-C07D162C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4860-6106-4057-81C0-3AD0ACF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F83C2-418A-4567-9812-006B87F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9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24A51-F8D1-44D8-9F76-247FEDD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09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7FAE2-7FAB-4437-8F01-46A67216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9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B101-DCE4-4CC4-BAA5-CA3A39D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09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3B4D0-FC31-44B9-AED5-643D018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09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Flagged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A2C06-82E1-4689-BE39-70A80423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14227-7DC8-4477-B1DF-C1EAB1B9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813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C0CEA-AA51-4188-AD8A-EB5C36D8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81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99.1%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159DF-942C-42AE-965E-F7DE192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81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EC70E-4E0D-444E-BBCA-D7DBAC4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81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53C60-97CA-4308-94CE-64E6ACF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81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33,896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1BF0F-44DD-4CC5-8537-5C6DFEC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32CD3-21D2-4322-8428-246AB7E0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01FEF-35DB-4430-81A5-4A70675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52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96.5%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4C6CC-CF4A-4B4F-A54C-CEF1174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52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35.8%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A986D-198E-4333-9F3D-62AED5F6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52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8.2%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AAB63-0294-4023-9F64-591BAC8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52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26,012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56C15-DCEF-4D48-911A-3D35993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3A047-9289-4816-92A9-90DE753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243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4C47A-88CD-44F1-9161-AADB5D8A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24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91.4%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EA334-3869-4E68-B2A3-ACE29F12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24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52.5%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BA98B-8E2C-40A5-B315-DDA1A866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24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0A17C-56CE-46B6-9AB9-56FBF148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243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19,704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93A60-9A09-4440-850E-F46AF262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05892-A6F4-464F-8C94-F6D696EE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95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E9256-0D54-429E-93F1-7A824CDE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95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72.1%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6DA53-D57F-41CA-9E1F-48E3EF9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95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79.7%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C0E36-C627-4FDA-85A1-06E8A75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95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17.5%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5D78D-B544-48AF-BB09-21914EC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95825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9,133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F7971-0052-46FA-A038-4E20E47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2817681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CA870-4B6F-4936-9ABE-3657763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1992D-05B1-4887-BA6E-2B7A4169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TOP FEATURES AFTER CLEANUP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F9508-47E2-4907-80A9-C6C0E4B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strongest signals are recent clinical score average, temperature, respiratory rate, drift, and pressure minima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27F8F-EF4E-4D83-A47C-D992AF3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8553B-05C1-406F-9CA7-D7756E0D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early_warning_score_avg_6h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9B6C9-2428-4810-82A0-AC0EE98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F41B1-E88D-4D7A-B606-D81DA44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4EC87-752E-48B3-BE1D-15D2144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479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F551D-8D54-474D-913F-2DC59F8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Temp_max_6h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22BAB-6FEA-4119-B24A-E7740821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33C8A-DF0F-4C0D-BBC9-26E56BF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59988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3AB19-A609-4AA2-B83E-C823C4E1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051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9692E-6497-4452-882E-490247A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Resp_avg_6h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28150-F7A2-48D6-A05A-D602159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099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929D8-F73E-4896-AF7A-3E60839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09950"/>
            <a:ext cx="523303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044A3-E645-4EE6-8177-FE144B4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623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00820-4569-4EC8-9F49-3AFCB14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85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pH_drift_from_normal_6h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67772-8C48-4662-80CA-5FF017D9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D607F-4940-4D4A-8B05-C5989C1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497776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486EC-ACBD-45FF-9E80-2C7F882C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195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43A45-0FAD-4F4B-A7CF-C60DFE64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MAP_min_6h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D22C5-DEF2-44E8-96F0-5B8B697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243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39903-4042-4C08-B576-BB0B4D7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24350"/>
            <a:ext cx="43395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89F7AC-684B-4ED7-8678-9439CA2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767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B3FF3-7ECB-4224-9B20-2F65C41D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HR_max_6h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DB59A-2F4D-4F1C-8C6D-90D72AB0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81550"/>
            <a:ext cx="638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46257-DB30-407F-B220-02CC2CE0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81550"/>
            <a:ext cx="42119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A6C26-06D1-48B5-A5DD-60AD01F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339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#6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B8B27-CCB0-4A2F-ABF3-88EED0C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9923772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C9CD8-6E29-4257-A5E6-E4D396C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C42AF-3B09-4077-9D93-BE4BBCDF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THIS DOES NOT 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7E419-8005-48CD-8D32-420DF18F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dataset cannot isolate sepsis risk from baseline severity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09D9C-EEBE-4EDA-9BE7-0DF857B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09E70-F83B-45DE-9259-CC917FA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E1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3CAF7-7E0C-4CDE-AFE7-CE4A4C6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Missing adjustment 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2CEDB-E8F8-471B-B2FA-54D8D716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0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SOFA/APACHE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diagnoses/comorbidities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vasopressors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ventilation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antibiotics/fluids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urine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90FB4-8B7F-4B26-9CE5-D2CA9895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217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1B08C-15F0-4A16-A1C6-88543D62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Defensible use 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D12CF-C972-477F-936F-5221588F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PoC risk stratification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analytics workflow demonstration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argument for richer data access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basis for shadow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96092-8117-451D-87BD-A3F9EB6C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0722403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FF498-EF49-4A3B-A439-8319344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0AD95-A782-42CF-9B40-9B0E7AF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BD914-DC8C-4340-AB3C-56922BF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same pipeline can become a reusable hospital analytics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57507-9EA7-411D-A683-34B89EB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845DD-AED8-4D34-B0E6-EE2A744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01D0C-C2D4-459F-A4F2-08FF05D7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0527D-9BD3-4E6C-92F4-538BEAB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D8AB0-4083-4068-8D85-1438381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sepsis now, other deterioration pathways 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CDFE-5CE1-44E7-B034-BD993AB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DF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DB63C-47AC-40AD-AC4D-84C1AC0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FA1A-AFA5-4181-88BE-0DBE3A26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A38AE-1579-4F7A-A0A5-BB9848AB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required fields, refresh cadence,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24DBE-4BDC-44E1-A8CA-254F0036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F36DE-2A4A-47EE-99BF-CC9CC76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3E9E1-1E09-49AC-8398-83D7C64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22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factory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E289D-3455-4835-986F-69C36B2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22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feature build, exclusion, CV, calibration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5221A-D504-41CF-8D20-5D7795C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4AA2B-4CD5-483B-B5A4-93A310D6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1C1BB-6B44-4826-B100-F1ABAB2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Review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37774-13ED-4210-A548-1BCF8FE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clinician signoff, false-positive taxonomy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0A28C-62B9-4A5F-8E95-DD974396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190" y="2714625"/>
            <a:ext cx="211836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E5F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1B8DA-114F-4CF3-820D-F5EA3356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8479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0C4DE-E636-442B-9095-D99BA9B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2828925"/>
            <a:ext cx="14706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Deployment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2B4DC-95AB-468D-B3C5-AC95D29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3171825"/>
            <a:ext cx="14706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shadow mode before any clinical alerts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93009-E051-45B1-9F3A-ABDF4F0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8648525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4B682-6D56-48D5-80A2-0FA220E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DCC50-3762-42C2-9602-ED03B4D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ARTIFACT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4C14B-FCEA-4FC6-817D-289939F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Before anyone presents this, verify these files match the cleaned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7A69-94F9-429F-940A-64E0B90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CF158-1BAE-44FD-936F-D56D92BE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1CE92-BE83-4CEB-9CBB-0E062C4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DAEAE-DB3E-4352-9754-1E10072C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98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55419-E6A1-47D4-A010-E6200B2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5FF64-6F4A-41AE-A55B-F08B2E3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32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feature_names.pkl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BE494-A7A3-4810-BD53-3E632C01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119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5BA07-FA83-4CD0-8068-19F7866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2EB55-D4E6-4A78-B9CB-18BDB39F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final_feature_list.csv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9248-7794-4C51-B39D-0A221B1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matches feature_names.pkl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F4860-FF1A-4320-A807-8C8C117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761B7-5BB5-4DBB-8A1B-263DB62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retained_feature_correlation_audit.json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B6640-240F-441C-906D-1AEC91A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max |r| = 0.773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E1658-045D-4399-A679-56252F3D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AC9FE-4C35-4473-8BD9-116EA67F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34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collinearity_pruning_audit.csv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73F0D-89BB-410D-9D8C-5DA6EE9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434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39 dropped pairs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449AA-CA03-4403-9FFC-CAE4D9AB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44F1E-0D59-4ADF-8829-1FDAEE4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model_metrics.json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AFA34-E9CD-434D-93F9-BA7D63D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768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XGB AUROC = 0.7988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A7013-E5DC-4452-BA82-43CD9B7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904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50D14-9F0E-4FE6-B3CD-9EC68580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shap_ranking.csv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0F416-900F-4DB9-8A7D-75D87C6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10225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119 contribution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A4A71A-3903-44FE-B881-FF2F4100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Known issue: SHAP PNGs blocked locally by pyexpat/libexpat; CSV ranking is current.</a:t>
            </a:r>
          </a:p>
        </p:txBody>
      </p:sp>
    </p:spTree>
    <p:extLst>
      <p:ext uri="{BB962C8B-B14F-4D97-AF65-F5344CB8AC3E}">
        <p14:creationId xmlns:p14="http://schemas.microsoft.com/office/powerpoint/2010/main" val="18967916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0C931-C639-467A-BC76-DA4C2F56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5F757-1E1D-4809-998B-E5FC8F78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DATA PARTNERSHIP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310B-C7B8-4860-BE4D-50B0A06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next work should prove clinical utility, not just AUROC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FF755-3940-4679-A77A-BFCBE40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4DDAD-8DB0-429A-8063-0369C20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509838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FEFBD-F5CD-458D-84E5-DB11E78A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C381B-FE61-42A3-8FCD-1F46D088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Retrospective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B9DD9-247B-4674-A49E-B55D0B47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8621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local data, severity, interventions,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84493-5473-4180-A961-22D4CE4F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667000"/>
            <a:ext cx="2509838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0D595-5DDC-487D-A155-4E6B5B89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C6251-47B5-4DA7-88EE-28B47B25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0826-05A3-4AD6-BBCE-C6BB94C3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3124200"/>
            <a:ext cx="18621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vitals-only, drift-only, labs-only, no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7C0EA-7C1A-4B75-80BF-1C55DB4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67000"/>
            <a:ext cx="2509838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DF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FFC41-2C59-4941-BBDA-7E51A98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B76F0-7A64-48C0-945C-89EB34F2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Alert aggregation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0D360-C69B-4755-95EF-F3A8C8FE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24200"/>
            <a:ext cx="18621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X consecutive hours, smoothing, hysteresis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FB747-C33B-4FD4-9FF2-729325F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667000"/>
            <a:ext cx="2509838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E5F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881B6-6273-450C-8ABC-FA676AB5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77808-DDC9-435C-86E2-BBAFC42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Prospective shadowing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C6E00-0915-4084-8C09-0A343A9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24200"/>
            <a:ext cx="18621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clinician review + alert fatigue 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85EB0-D94E-41AE-868D-4003ACB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500290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2026-05-22T21:36:33.4570000Z</dcterms:created>
  <dcterms:modified xsi:type="dcterms:W3CDTF">2026-05-22T21:36:33.4570000Z</dcterms:modified>
</coreProperties>
</file>